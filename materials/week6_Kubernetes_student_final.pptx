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Default Extension="png" ContentType="image/png"/>
  <Default Extension="fntdata" ContentType="application/x-fontdata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817d1c52674ab1" /><Relationship Type="http://schemas.openxmlformats.org/officeDocument/2006/relationships/extended-properties" Target="/docProps/app.xml" Id="Refc2506a7c4b49b1" /><Relationship Type="http://schemas.openxmlformats.org/officeDocument/2006/relationships/officeDocument" Target="/ppt/presentation.xml" Id="Rd00faba5cc7a4693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74" r:id="rIdTemplate0"/>
  </p:sldMasterIdLst>
  <p:notesMasterIdLst>
    <p:notesMasterId r:id="Rb90735a6c85a42ac"/>
  </p:notesMasterIdLst>
  <p:sldIdLst>
    <p:sldId id="256" r:id="R37919361bbac4e3a"/>
    <p:sldId id="257" r:id="R865136c6f04141fe"/>
    <p:sldId id="258" r:id="R811a4bb9d71c4c40"/>
    <p:sldId id="259" r:id="Rfb6e995d540c422b"/>
    <p:sldId id="260" r:id="R1ab76777591b4389"/>
    <p:sldId id="261" r:id="R8465eca2e6b3443e"/>
    <p:sldId id="262" r:id="R5251dcae3d984768"/>
    <p:sldId id="263" r:id="R676f80e99d384c2b"/>
    <p:sldId id="264" r:id="R6f1e8d475a0441d6"/>
    <p:sldId id="265" r:id="R121d19684f564ab1"/>
    <p:sldId id="266" r:id="Rff6264ae8be04db1"/>
    <p:sldId id="267" r:id="R17692a4ea9db4d86"/>
    <p:sldId id="268" r:id="R404d1f5001e94ff6"/>
    <p:sldId id="269" r:id="R003c80a5bf28478e"/>
    <p:sldId id="270" r:id="R7586e8b61d344166"/>
    <p:sldId id="271" r:id="Rfa22633012cf4ae8"/>
    <p:sldId id="272" r:id="R55e09bc68913413f"/>
    <p:sldId id="273" r:id="Rcf53e93b46c44079"/>
    <p:sldId id="274" r:id="Rdabf6af8d26d4b4f"/>
    <p:sldId id="275" r:id="Rf89b82ac88f74bcc"/>
    <p:sldId id="276" r:id="R39b6f44f8a6c45dd"/>
    <p:sldId id="277" r:id="Rb161a0abf1074e74"/>
    <p:sldId id="278" r:id="R2193063963344f58"/>
    <p:sldId id="279" r:id="R9600a09f296b43f1"/>
    <p:sldId id="280" r:id="Rec146ba984334278"/>
    <p:sldId id="281" r:id="Re49278c7a7ec4a7f"/>
    <p:sldId id="282" r:id="Reff25d610de34f25"/>
    <p:sldId id="283" r:id="R94062484102a4a5a"/>
    <p:sldId id="284" r:id="R58742cea050c434f"/>
    <p:sldId id="285" r:id="R026f60f568b548a4"/>
    <p:sldId id="286" r:id="R34c5d08d0a414da4"/>
    <p:sldId id="287" r:id="R7aa3c1d06f2d4fd4"/>
    <p:sldId id="288" r:id="R1f577fc9a27949d1"/>
    <p:sldId id="289" r:id="R14c3655c8f194bd5"/>
    <p:sldId id="290" r:id="Ra65eb48688374028"/>
    <p:sldId id="291" r:id="Rb67f80f16ce54015"/>
    <p:sldId id="292" r:id="Rac769e7c754d40bf"/>
    <p:sldId id="293" r:id="R07c37f546fbd49a3"/>
    <p:sldId id="294" r:id="Rc09555f931cb44cc"/>
    <p:sldId id="295" r:id="R88fea9a0f33346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b902d57ab89e4e39" /><ns0:Relationship Type="http://schemas.openxmlformats.org/officeDocument/2006/relationships/notesMaster" Target="/ppt/notesMasters/notesMaster1.xml" Id="Rb90735a6c85a42ac" /><ns0:Relationship Type="http://schemas.openxmlformats.org/officeDocument/2006/relationships/presProps" Target="/ppt/presProps.xml" Id="R0591d18dbb0b4045" /><ns0:Relationship Type="http://schemas.openxmlformats.org/officeDocument/2006/relationships/tableStyles" Target="/ppt/tableStyles.xml" Id="R3d62c96ef2f44e45" /><ns0:Relationship Type="http://schemas.openxmlformats.org/officeDocument/2006/relationships/slide" Target="/ppt/slides/slide1.xml" Id="R37919361bbac4e3a" /><ns0:Relationship Type="http://schemas.openxmlformats.org/officeDocument/2006/relationships/slide" Target="/ppt/slides/slide2.xml" Id="R865136c6f04141fe" /><ns0:Relationship Type="http://schemas.openxmlformats.org/officeDocument/2006/relationships/slide" Target="/ppt/slides/slide3.xml" Id="R811a4bb9d71c4c40" /><ns0:Relationship Type="http://schemas.openxmlformats.org/officeDocument/2006/relationships/slide" Target="/ppt/slides/slide4.xml" Id="Rfb6e995d540c422b" /><ns0:Relationship Type="http://schemas.openxmlformats.org/officeDocument/2006/relationships/slide" Target="/ppt/slides/slide5.xml" Id="R1ab76777591b4389" /><ns0:Relationship Type="http://schemas.openxmlformats.org/officeDocument/2006/relationships/slide" Target="/ppt/slides/slide6.xml" Id="R8465eca2e6b3443e" /><ns0:Relationship Type="http://schemas.openxmlformats.org/officeDocument/2006/relationships/slide" Target="/ppt/slides/slide7.xml" Id="R5251dcae3d984768" /><ns0:Relationship Type="http://schemas.openxmlformats.org/officeDocument/2006/relationships/slide" Target="/ppt/slides/slide8.xml" Id="R676f80e99d384c2b" /><ns0:Relationship Type="http://schemas.openxmlformats.org/officeDocument/2006/relationships/slide" Target="/ppt/slides/slide9.xml" Id="R6f1e8d475a0441d6" /><ns0:Relationship Type="http://schemas.openxmlformats.org/officeDocument/2006/relationships/slide" Target="/ppt/slides/slide10.xml" Id="R121d19684f564ab1" /><ns0:Relationship Type="http://schemas.openxmlformats.org/officeDocument/2006/relationships/slide" Target="/ppt/slides/slide11.xml" Id="Rff6264ae8be04db1" /><ns0:Relationship Type="http://schemas.openxmlformats.org/officeDocument/2006/relationships/slide" Target="/ppt/slides/slide12.xml" Id="R17692a4ea9db4d86" /><ns0:Relationship Type="http://schemas.openxmlformats.org/officeDocument/2006/relationships/slide" Target="/ppt/slides/slide13.xml" Id="R404d1f5001e94ff6" /><ns0:Relationship Type="http://schemas.openxmlformats.org/officeDocument/2006/relationships/slide" Target="/ppt/slides/slide14.xml" Id="R003c80a5bf28478e" /><ns0:Relationship Type="http://schemas.openxmlformats.org/officeDocument/2006/relationships/slide" Target="/ppt/slides/slide15.xml" Id="R7586e8b61d344166" /><ns0:Relationship Type="http://schemas.openxmlformats.org/officeDocument/2006/relationships/slide" Target="/ppt/slides/slide16.xml" Id="Rfa22633012cf4ae8" /><ns0:Relationship Type="http://schemas.openxmlformats.org/officeDocument/2006/relationships/slide" Target="/ppt/slides/slide17.xml" Id="R55e09bc68913413f" /><ns0:Relationship Type="http://schemas.openxmlformats.org/officeDocument/2006/relationships/slide" Target="/ppt/slides/slide18.xml" Id="Rcf53e93b46c44079" /><ns0:Relationship Type="http://schemas.openxmlformats.org/officeDocument/2006/relationships/slide" Target="/ppt/slides/slide19.xml" Id="Rdabf6af8d26d4b4f" /><ns0:Relationship Type="http://schemas.openxmlformats.org/officeDocument/2006/relationships/slide" Target="/ppt/slides/slide20.xml" Id="Rf89b82ac88f74bcc" /><ns0:Relationship Type="http://schemas.openxmlformats.org/officeDocument/2006/relationships/slide" Target="/ppt/slides/slide21.xml" Id="R39b6f44f8a6c45dd" /><ns0:Relationship Type="http://schemas.openxmlformats.org/officeDocument/2006/relationships/slide" Target="/ppt/slides/slide22.xml" Id="Rb161a0abf1074e74" /><ns0:Relationship Type="http://schemas.openxmlformats.org/officeDocument/2006/relationships/slide" Target="/ppt/slides/slide23.xml" Id="R2193063963344f58" /><ns0:Relationship Type="http://schemas.openxmlformats.org/officeDocument/2006/relationships/slide" Target="/ppt/slides/slide24.xml" Id="R9600a09f296b43f1" /><ns0:Relationship Type="http://schemas.openxmlformats.org/officeDocument/2006/relationships/slide" Target="/ppt/slides/slide25.xml" Id="Rec146ba984334278" /><ns0:Relationship Type="http://schemas.openxmlformats.org/officeDocument/2006/relationships/slide" Target="/ppt/slides/slide26.xml" Id="Re49278c7a7ec4a7f" /><ns0:Relationship Type="http://schemas.openxmlformats.org/officeDocument/2006/relationships/slide" Target="/ppt/slides/slide27.xml" Id="Reff25d610de34f25" /><ns0:Relationship Type="http://schemas.openxmlformats.org/officeDocument/2006/relationships/slide" Target="/ppt/slides/slide28.xml" Id="R94062484102a4a5a" /><ns0:Relationship Type="http://schemas.openxmlformats.org/officeDocument/2006/relationships/slide" Target="/ppt/slides/slide29.xml" Id="R58742cea050c434f" /><ns0:Relationship Type="http://schemas.openxmlformats.org/officeDocument/2006/relationships/slide" Target="/ppt/slides/slide30.xml" Id="R026f60f568b548a4" /><ns0:Relationship Type="http://schemas.openxmlformats.org/officeDocument/2006/relationships/slide" Target="/ppt/slides/slide31.xml" Id="R34c5d08d0a414da4" /><ns0:Relationship Type="http://schemas.openxmlformats.org/officeDocument/2006/relationships/slide" Target="/ppt/slides/slide32.xml" Id="R7aa3c1d06f2d4fd4" /><ns0:Relationship Type="http://schemas.openxmlformats.org/officeDocument/2006/relationships/slide" Target="/ppt/slides/slide33.xml" Id="R1f577fc9a27949d1" /><ns0:Relationship Type="http://schemas.openxmlformats.org/officeDocument/2006/relationships/slide" Target="/ppt/slides/slide34.xml" Id="R14c3655c8f194bd5" /><ns0:Relationship Type="http://schemas.openxmlformats.org/officeDocument/2006/relationships/slide" Target="/ppt/slides/slide35.xml" Id="Ra65eb48688374028" /><ns0:Relationship Type="http://schemas.openxmlformats.org/officeDocument/2006/relationships/slide" Target="/ppt/slides/slide36.xml" Id="Rb67f80f16ce54015" /><ns0:Relationship Type="http://schemas.openxmlformats.org/officeDocument/2006/relationships/slide" Target="/ppt/slides/slide37.xml" Id="Rac769e7c754d40bf" /><ns0:Relationship Type="http://schemas.openxmlformats.org/officeDocument/2006/relationships/slide" Target="/ppt/slides/slide38.xml" Id="R07c37f546fbd49a3" /><ns0:Relationship Type="http://schemas.openxmlformats.org/officeDocument/2006/relationships/slide" Target="/ppt/slides/slide39.xml" Id="Rc09555f931cb44cc" /><ns0:Relationship Type="http://schemas.openxmlformats.org/officeDocument/2006/relationships/slide" Target="/ppt/slides/slide40.xml" Id="R88fea9a0f3334692" /><ns0:Relationship Id="rIdTemplate0" Type="http://schemas.openxmlformats.org/officeDocument/2006/relationships/slideMaster" Target="slideMasters/slideMaster1.xml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491ccbe50540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755c901f64c8f" /><Relationship Type="http://schemas.openxmlformats.org/officeDocument/2006/relationships/notesMaster" Target="/ppt/notesMasters/notesMaster1.xml" Id="Rd06b1cf735764c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495855caf4871" /><Relationship Type="http://schemas.openxmlformats.org/officeDocument/2006/relationships/notesMaster" Target="/ppt/notesMasters/notesMaster1.xml" Id="Rd6f89ed9654c40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18ded08b0b4cbc" /><Relationship Type="http://schemas.openxmlformats.org/officeDocument/2006/relationships/notesMaster" Target="/ppt/notesMasters/notesMaster1.xml" Id="Rdac5842e852e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dd2da863dd4b23" /><Relationship Type="http://schemas.openxmlformats.org/officeDocument/2006/relationships/notesMaster" Target="/ppt/notesMasters/notesMaster1.xml" Id="R629841a6f98a4f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423255dbcf439b" /><Relationship Type="http://schemas.openxmlformats.org/officeDocument/2006/relationships/notesMaster" Target="/ppt/notesMasters/notesMaster1.xml" Id="R8fa5c67f63da42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0dd58da6a46bc" /><Relationship Type="http://schemas.openxmlformats.org/officeDocument/2006/relationships/notesMaster" Target="/ppt/notesMasters/notesMaster1.xml" Id="R58df3fec68da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e6b39ce50c403d" /><Relationship Type="http://schemas.openxmlformats.org/officeDocument/2006/relationships/notesMaster" Target="/ppt/notesMasters/notesMaster1.xml" Id="Rdb391a4fd08a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33652f1a424c23" /><Relationship Type="http://schemas.openxmlformats.org/officeDocument/2006/relationships/notesMaster" Target="/ppt/notesMasters/notesMaster1.xml" Id="R1e02c0c83d7543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fc9f22a3064723" /><Relationship Type="http://schemas.openxmlformats.org/officeDocument/2006/relationships/notesMaster" Target="/ppt/notesMasters/notesMaster1.xml" Id="Rcb0935fb7b0a45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9366b002e24b30" /><Relationship Type="http://schemas.openxmlformats.org/officeDocument/2006/relationships/notesMaster" Target="/ppt/notesMasters/notesMaster1.xml" Id="R66374a9d497e4d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38b0f1633f42ee" /><Relationship Type="http://schemas.openxmlformats.org/officeDocument/2006/relationships/notesMaster" Target="/ppt/notesMasters/notesMaster1.xml" Id="R96a8e856d13e47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c7541af6a54ac7" /><Relationship Type="http://schemas.openxmlformats.org/officeDocument/2006/relationships/notesMaster" Target="/ppt/notesMasters/notesMaster1.xml" Id="R2302d725901146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2a7b038b4d4cff" /><Relationship Type="http://schemas.openxmlformats.org/officeDocument/2006/relationships/notesMaster" Target="/ppt/notesMasters/notesMaster1.xml" Id="R25d74001fa034e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ad4798e6474d6f" /><Relationship Type="http://schemas.openxmlformats.org/officeDocument/2006/relationships/notesMaster" Target="/ppt/notesMasters/notesMaster1.xml" Id="Rdec57cb4c88949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e6102561d94c22" /><Relationship Type="http://schemas.openxmlformats.org/officeDocument/2006/relationships/notesMaster" Target="/ppt/notesMasters/notesMaster1.xml" Id="R642c29c0aa654d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749419407b4375" /><Relationship Type="http://schemas.openxmlformats.org/officeDocument/2006/relationships/notesMaster" Target="/ppt/notesMasters/notesMaster1.xml" Id="R9d0622a050084a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c6bf4bba004236" /><Relationship Type="http://schemas.openxmlformats.org/officeDocument/2006/relationships/notesMaster" Target="/ppt/notesMasters/notesMaster1.xml" Id="Rf4b759de626943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263c9269c24a79" /><Relationship Type="http://schemas.openxmlformats.org/officeDocument/2006/relationships/notesMaster" Target="/ppt/notesMasters/notesMaster1.xml" Id="R7665857b0a8c49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57e11f5f2a4ecf" /><Relationship Type="http://schemas.openxmlformats.org/officeDocument/2006/relationships/notesMaster" Target="/ppt/notesMasters/notesMaster1.xml" Id="Rfa0861c78e7641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e1e03d5d9e48bc" /><Relationship Type="http://schemas.openxmlformats.org/officeDocument/2006/relationships/notesMaster" Target="/ppt/notesMasters/notesMaster1.xml" Id="Rb4901c15fc1146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7a560fd3dba4534" /><Relationship Type="http://schemas.openxmlformats.org/officeDocument/2006/relationships/notesMaster" Target="/ppt/notesMasters/notesMaster1.xml" Id="Rd4db255eb2f046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8e5f05e8e64f35" /><Relationship Type="http://schemas.openxmlformats.org/officeDocument/2006/relationships/notesMaster" Target="/ppt/notesMasters/notesMaster1.xml" Id="R8348a048be31439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71d92855df4163" /><Relationship Type="http://schemas.openxmlformats.org/officeDocument/2006/relationships/notesMaster" Target="/ppt/notesMasters/notesMaster1.xml" Id="Rc4128172c9ce47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90b95d724094d5c" /><Relationship Type="http://schemas.openxmlformats.org/officeDocument/2006/relationships/notesMaster" Target="/ppt/notesMasters/notesMaster1.xml" Id="Rf5983ebe8aa34ae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492697b6d542fd" /><Relationship Type="http://schemas.openxmlformats.org/officeDocument/2006/relationships/notesMaster" Target="/ppt/notesMasters/notesMaster1.xml" Id="R7c19d89196d5455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aa13685ee5e4021" /><Relationship Type="http://schemas.openxmlformats.org/officeDocument/2006/relationships/notesMaster" Target="/ppt/notesMasters/notesMaster1.xml" Id="R3f8d461feff34df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226470586ef46b4" /><Relationship Type="http://schemas.openxmlformats.org/officeDocument/2006/relationships/notesMaster" Target="/ppt/notesMasters/notesMaster1.xml" Id="Rf89ca072d8eb46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9781a08c7674aee" /><Relationship Type="http://schemas.openxmlformats.org/officeDocument/2006/relationships/notesMaster" Target="/ppt/notesMasters/notesMaster1.xml" Id="R19e7f39537fe4ab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9bca859c7324adb" /><Relationship Type="http://schemas.openxmlformats.org/officeDocument/2006/relationships/notesMaster" Target="/ppt/notesMasters/notesMaster1.xml" Id="R5142e5e566af45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da631009ae4414f" /><Relationship Type="http://schemas.openxmlformats.org/officeDocument/2006/relationships/notesMaster" Target="/ppt/notesMasters/notesMaster1.xml" Id="R65fe5bf047434e5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1fc21d79c5427e" /><Relationship Type="http://schemas.openxmlformats.org/officeDocument/2006/relationships/notesMaster" Target="/ppt/notesMasters/notesMaster1.xml" Id="R37787e2f9e8040a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0e835c7ca95483e" /><Relationship Type="http://schemas.openxmlformats.org/officeDocument/2006/relationships/notesMaster" Target="/ppt/notesMasters/notesMaster1.xml" Id="R4c0323b5dc18482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9202275d3834b0c" /><Relationship Type="http://schemas.openxmlformats.org/officeDocument/2006/relationships/notesMaster" Target="/ppt/notesMasters/notesMaster1.xml" Id="R6196c046a756446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e29a44e0fd4b15" /><Relationship Type="http://schemas.openxmlformats.org/officeDocument/2006/relationships/notesMaster" Target="/ppt/notesMasters/notesMaster1.xml" Id="Raabb53efed3140a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a58ab03eaa5463f" /><Relationship Type="http://schemas.openxmlformats.org/officeDocument/2006/relationships/notesMaster" Target="/ppt/notesMasters/notesMaster1.xml" Id="R5e7713f96d574f0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d7dbc8303304692" /><Relationship Type="http://schemas.openxmlformats.org/officeDocument/2006/relationships/notesMaster" Target="/ppt/notesMasters/notesMaster1.xml" Id="Rc2d7d2fa6cc24b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71dbcd4a11d4c70" /><Relationship Type="http://schemas.openxmlformats.org/officeDocument/2006/relationships/notesMaster" Target="/ppt/notesMasters/notesMaster1.xml" Id="R338e53e74496401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6ef5b822069415b" /><Relationship Type="http://schemas.openxmlformats.org/officeDocument/2006/relationships/notesMaster" Target="/ppt/notesMasters/notesMaster1.xml" Id="R2fba178d3ebc4a6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298d43956c54ede" /><Relationship Type="http://schemas.openxmlformats.org/officeDocument/2006/relationships/notesMaster" Target="/ppt/notesMasters/notesMaster1.xml" Id="R86831f0de7c8423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b38ba6915144528" /><Relationship Type="http://schemas.openxmlformats.org/officeDocument/2006/relationships/notesMaster" Target="/ppt/notesMasters/notesMaster1.xml" Id="Rbbf7065dc8224e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실습: docs/student-lab.md. 공식 참고: https://kubernetes.io/docs/concepts/workloads/controllers/deployment/ ; https://kubernetes.io/docs/concepts/services-networking/service/ ; https://minikube.sigs.k8s.io/docs/start/ . 명령 결과는 예상 결과이며 실제 환경별 출력은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2E6A30D-F309-4CDE-BE84-066179AB774D}"/>
              </a:ext>
            </a:extLst>
          </p:cNvPr>
          <p:cNvSpPr/>
          <p:nvPr userDrawn="1"/>
        </p:nvSpPr>
        <p:spPr>
          <a:xfrm>
            <a:off x="-3" y="1579032"/>
            <a:ext cx="12192003" cy="3762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" y="1579032"/>
            <a:ext cx="12192003" cy="3762165"/>
          </a:xfrm>
        </p:spPr>
        <p:txBody>
          <a:bodyPr anchor="ctr"/>
          <a:lstStyle>
            <a:lvl1pPr algn="ctr">
              <a:defRPr sz="60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E6A30D-F309-4CDE-BE84-066179AB774D}"/>
              </a:ext>
            </a:extLst>
          </p:cNvPr>
          <p:cNvSpPr/>
          <p:nvPr userDrawn="1"/>
        </p:nvSpPr>
        <p:spPr>
          <a:xfrm>
            <a:off x="-2" y="0"/>
            <a:ext cx="2693415" cy="22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529E9E-DBEA-40FC-927F-1696424179D9}"/>
              </a:ext>
            </a:extLst>
          </p:cNvPr>
          <p:cNvSpPr/>
          <p:nvPr userDrawn="1"/>
        </p:nvSpPr>
        <p:spPr>
          <a:xfrm>
            <a:off x="8154043" y="6660036"/>
            <a:ext cx="4037958" cy="197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err="1">
                <a:solidFill>
                  <a:srgbClr val="B4C7E7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이승목</a:t>
            </a:r>
            <a:endParaRPr lang="ko-KR" altLang="en-US" sz="1400" b="1">
              <a:solidFill>
                <a:srgbClr val="B4C7E7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870373-5BF9-402F-935F-6E04B86FF322}"/>
              </a:ext>
            </a:extLst>
          </p:cNvPr>
          <p:cNvSpPr/>
          <p:nvPr userDrawn="1"/>
        </p:nvSpPr>
        <p:spPr>
          <a:xfrm rot="5400000">
            <a:off x="-399499" y="583731"/>
            <a:ext cx="1347021" cy="179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6C4E0C-0A61-48BA-A854-81D5215DBB95}"/>
              </a:ext>
            </a:extLst>
          </p:cNvPr>
          <p:cNvSpPr/>
          <p:nvPr userDrawn="1"/>
        </p:nvSpPr>
        <p:spPr>
          <a:xfrm rot="5400000">
            <a:off x="11017617" y="1036731"/>
            <a:ext cx="2211113" cy="137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51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19835205">
            <a:off x="-1094726" y="2397455"/>
            <a:ext cx="14185887" cy="20550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E6A30D-F309-4CDE-BE84-066179AB774D}"/>
              </a:ext>
            </a:extLst>
          </p:cNvPr>
          <p:cNvSpPr/>
          <p:nvPr userDrawn="1"/>
        </p:nvSpPr>
        <p:spPr>
          <a:xfrm>
            <a:off x="-2" y="0"/>
            <a:ext cx="2693415" cy="22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529E9E-DBEA-40FC-927F-1696424179D9}"/>
              </a:ext>
            </a:extLst>
          </p:cNvPr>
          <p:cNvSpPr/>
          <p:nvPr userDrawn="1"/>
        </p:nvSpPr>
        <p:spPr>
          <a:xfrm>
            <a:off x="8154043" y="6660036"/>
            <a:ext cx="4037958" cy="197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870373-5BF9-402F-935F-6E04B86FF322}"/>
              </a:ext>
            </a:extLst>
          </p:cNvPr>
          <p:cNvSpPr/>
          <p:nvPr userDrawn="1"/>
        </p:nvSpPr>
        <p:spPr>
          <a:xfrm rot="5400000">
            <a:off x="-399499" y="583731"/>
            <a:ext cx="1347021" cy="179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6C4E0C-0A61-48BA-A854-81D5215DBB95}"/>
              </a:ext>
            </a:extLst>
          </p:cNvPr>
          <p:cNvSpPr/>
          <p:nvPr userDrawn="1"/>
        </p:nvSpPr>
        <p:spPr>
          <a:xfrm rot="5400000">
            <a:off x="11017617" y="1036731"/>
            <a:ext cx="2211113" cy="137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0"/>
          </p:nvPr>
        </p:nvSpPr>
        <p:spPr>
          <a:xfrm>
            <a:off x="4260915" y="2967775"/>
            <a:ext cx="3525625" cy="1330848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3200" b="1">
                <a:solidFill>
                  <a:srgbClr val="B4C7E7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457200" indent="0">
              <a:buFontTx/>
              <a:buNone/>
              <a:defRPr sz="3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914400" indent="0">
              <a:buFontTx/>
              <a:buNone/>
              <a:defRPr sz="2800"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1371600" indent="0">
              <a:buFontTx/>
              <a:buNone/>
              <a:defRPr sz="2400"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1828800" indent="0">
              <a:buFontTx/>
              <a:buNone/>
              <a:defRPr sz="2400"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2166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" userDrawn="1">
  <p:cSld name="7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939681" y="213959"/>
            <a:ext cx="10510981" cy="582911"/>
            <a:chOff x="849746" y="509047"/>
            <a:chExt cx="10510981" cy="837975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849746" y="509047"/>
              <a:ext cx="10510981" cy="83797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8" name="양쪽 모서리가 둥근 사각형 17"/>
            <p:cNvSpPr/>
            <p:nvPr/>
          </p:nvSpPr>
          <p:spPr>
            <a:xfrm rot="16200000">
              <a:off x="1066404" y="292392"/>
              <a:ext cx="837974" cy="1271286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lang="ko-KR" altLang="en-US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2210969" y="272955"/>
            <a:ext cx="9239693" cy="474662"/>
          </a:xfrm>
        </p:spPr>
        <p:txBody>
          <a:bodyPr>
            <a:noAutofit/>
          </a:bodyPr>
          <a:lstStyle>
            <a:lvl1pPr algn="ctr">
              <a:defRPr sz="2400" b="1" spc="-100" baseline="0">
                <a:solidFill>
                  <a:schemeClr val="tx1"/>
                </a:solidFill>
                <a:effectLst>
                  <a:glow>
                    <a:schemeClr val="tx1"/>
                  </a:glow>
                </a:effectLst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>
              <a:defRPr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2"/>
          <p:cNvSpPr>
            <a:spLocks noGrp="1"/>
          </p:cNvSpPr>
          <p:nvPr>
            <p:ph idx="1" hasCustomPrompt="1"/>
          </p:nvPr>
        </p:nvSpPr>
        <p:spPr>
          <a:xfrm>
            <a:off x="335997" y="850492"/>
            <a:ext cx="11718350" cy="586463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57040" indent="-25704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685680" indent="-228480">
              <a:lnSpc>
                <a:spcPct val="150000"/>
              </a:lnSpc>
              <a:buClrTx/>
              <a:buFont typeface="Wingdings" panose="05000000000000000000" pitchFamily="2" charset="2"/>
              <a:buChar char="§"/>
              <a:defRPr sz="2400" b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1200150" indent="-285750">
              <a:lnSpc>
                <a:spcPct val="150000"/>
              </a:lnSpc>
              <a:buClrTx/>
              <a:buFont typeface="Wingdings" panose="05000000000000000000" pitchFamily="2" charset="2"/>
              <a:buChar char="§"/>
              <a:defRPr sz="2000" b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</a:lstStyle>
          <a:p>
            <a:pPr lvl="0">
              <a:defRPr/>
            </a:pPr>
            <a:r>
              <a:rPr lang="ko-KR" altLang="en-US" dirty="0"/>
              <a:t> 마스터 텍스트 스타일을 편집합니다</a:t>
            </a:r>
          </a:p>
          <a:p>
            <a:pPr lvl="1">
              <a:defRPr/>
            </a:pPr>
            <a:r>
              <a:rPr lang="ko-KR" altLang="en-US" dirty="0"/>
              <a:t> 둘째 수준</a:t>
            </a:r>
          </a:p>
          <a:p>
            <a:pPr lvl="2">
              <a:defRPr/>
            </a:pPr>
            <a:r>
              <a:rPr lang="ko-KR" altLang="en-US" dirty="0"/>
              <a:t>셋째 수준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E6A30D-F309-4CDE-BE84-066179AB774D}"/>
              </a:ext>
            </a:extLst>
          </p:cNvPr>
          <p:cNvSpPr/>
          <p:nvPr userDrawn="1"/>
        </p:nvSpPr>
        <p:spPr>
          <a:xfrm>
            <a:off x="-2" y="0"/>
            <a:ext cx="2276477" cy="160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529E9E-DBEA-40FC-927F-1696424179D9}"/>
              </a:ext>
            </a:extLst>
          </p:cNvPr>
          <p:cNvSpPr/>
          <p:nvPr userDrawn="1"/>
        </p:nvSpPr>
        <p:spPr>
          <a:xfrm>
            <a:off x="8154043" y="6715124"/>
            <a:ext cx="4037958" cy="1428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870373-5BF9-402F-935F-6E04B86FF322}"/>
              </a:ext>
            </a:extLst>
          </p:cNvPr>
          <p:cNvSpPr/>
          <p:nvPr userDrawn="1"/>
        </p:nvSpPr>
        <p:spPr>
          <a:xfrm rot="5400000">
            <a:off x="-224718" y="408950"/>
            <a:ext cx="969662" cy="1517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6C4E0C-0A61-48BA-A854-81D5215DBB95}"/>
              </a:ext>
            </a:extLst>
          </p:cNvPr>
          <p:cNvSpPr/>
          <p:nvPr userDrawn="1"/>
        </p:nvSpPr>
        <p:spPr>
          <a:xfrm rot="5400000">
            <a:off x="11017617" y="1036731"/>
            <a:ext cx="2211113" cy="1376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360703"/>
      </p:ext>
    </p:extLst>
  </p:cSld>
  <p:clrMapOvr>
    <a:masterClrMapping/>
  </p:clrMapOvr>
  <p:transition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4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30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96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5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24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71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03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728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578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D6AD7-7EE8-4327-82C6-7D7BE9AE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77981-B22B-4635-BB7E-3FC2E163C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2959B6-85B8-4408-919C-FFEB6DDF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37DAB-2156-4FAA-9889-211DE767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03780-3976-44DB-BE70-9D129BED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236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644C9-C0C4-4E4C-956A-48B817022455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0DED3-C2D2-47E9-91BC-F26EC5D99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01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8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90" r:id="rId13"/>
    <p:sldLayoutId id="214748369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44f961eeddd54c8a" /><ns0:Relationship Type="http://schemas.openxmlformats.org/officeDocument/2006/relationships/notesSlide" Target="/ppt/notesSlides/notesSlide2.xml" Id="R5e31ce1a79714766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bffbce61c9c644dc" /><ns0:Relationship Type="http://schemas.openxmlformats.org/officeDocument/2006/relationships/notesSlide" Target="/ppt/notesSlides/notesSlide3.xml" Id="R0ca7af201ecf4934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4c028392218f43ed" /><ns0:Relationship Type="http://schemas.openxmlformats.org/officeDocument/2006/relationships/notesSlide" Target="/ppt/notesSlides/notesSlide4.xml" Id="R4c99ec48c03e413e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c7bd7da2b77a4db8" /><ns0:Relationship Type="http://schemas.openxmlformats.org/officeDocument/2006/relationships/notesSlide" Target="/ppt/notesSlides/notesSlide5.xml" Id="R08932747400e4410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d6312b9ad9484978" /><ns0:Relationship Type="http://schemas.openxmlformats.org/officeDocument/2006/relationships/notesSlide" Target="/ppt/notesSlides/notesSlide6.xml" Id="Rffdf6447b2d5424b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c3a66256012e403a" /><ns0:Relationship Type="http://schemas.openxmlformats.org/officeDocument/2006/relationships/notesSlide" Target="/ppt/notesSlides/notesSlide7.xml" Id="R2ff0575d75f54fd0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a91c2dd217c14c18" /><ns0:Relationship Type="http://schemas.openxmlformats.org/officeDocument/2006/relationships/notesSlide" Target="/ppt/notesSlides/notesSlide8.xml" Id="R79712cc524cd45e2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5bd55149aa244eba" /><ns0:Relationship Type="http://schemas.openxmlformats.org/officeDocument/2006/relationships/notesSlide" Target="/ppt/notesSlides/notesSlide9.xml" Id="Ref934e87aff044cb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3fa0d86fc70c4315" /><ns0:Relationship Type="http://schemas.openxmlformats.org/officeDocument/2006/relationships/notesSlide" Target="/ppt/notesSlides/notesSlide10.xml" Id="Rab66a7663f504dba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6b69c4d678e94418" /><ns0:Relationship Type="http://schemas.openxmlformats.org/officeDocument/2006/relationships/notesSlide" Target="/ppt/notesSlides/notesSlide11.xml" Id="R9d091d21cd9b45e7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0696164ca8354a44" /><ns0:Relationship Type="http://schemas.openxmlformats.org/officeDocument/2006/relationships/notesSlide" Target="/ppt/notesSlides/notesSlide12.xml" Id="Rd4bb144d59d1400b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ec8dd000c9734168" /><ns0:Relationship Type="http://schemas.openxmlformats.org/officeDocument/2006/relationships/notesSlide" Target="/ppt/notesSlides/notesSlide13.xml" Id="Re047f5558f6a4ea3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5b00f890506a4c16" /><ns0:Relationship Type="http://schemas.openxmlformats.org/officeDocument/2006/relationships/notesSlide" Target="/ppt/notesSlides/notesSlide14.xml" Id="R03084a7ac327425e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5fde33ba14634176" /><ns0:Relationship Type="http://schemas.openxmlformats.org/officeDocument/2006/relationships/notesSlide" Target="/ppt/notesSlides/notesSlide15.xml" Id="R8f12088d3c0e45df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ecf2b8a1f7ea4d40" /><ns0:Relationship Type="http://schemas.openxmlformats.org/officeDocument/2006/relationships/notesSlide" Target="/ppt/notesSlides/notesSlide16.xml" Id="R3cd5c43fb6a3419e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75368cd70a5748f9" /><ns0:Relationship Type="http://schemas.openxmlformats.org/officeDocument/2006/relationships/notesSlide" Target="/ppt/notesSlides/notesSlide17.xml" Id="R7f39e3d6cd0947e2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ac1ae9dd68d1435d" /><ns0:Relationship Type="http://schemas.openxmlformats.org/officeDocument/2006/relationships/notesSlide" Target="/ppt/notesSlides/notesSlide18.xml" Id="Rbfd35d854d27425c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296bed6ca6304b06" /><ns0:Relationship Type="http://schemas.openxmlformats.org/officeDocument/2006/relationships/notesSlide" Target="/ppt/notesSlides/notesSlide19.xml" Id="R8b3256de7bf24749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bd13ded8d71c438d" /><ns0:Relationship Type="http://schemas.openxmlformats.org/officeDocument/2006/relationships/notesSlide" Target="/ppt/notesSlides/notesSlide20.xml" Id="R291b4bd5b5f144ad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194838108ffe4e1e" /><ns0:Relationship Type="http://schemas.openxmlformats.org/officeDocument/2006/relationships/notesSlide" Target="/ppt/notesSlides/notesSlide21.xml" Id="R34ab5eb8603b41ad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ba99aef08a26478f" /><ns0:Relationship Type="http://schemas.openxmlformats.org/officeDocument/2006/relationships/notesSlide" Target="/ppt/notesSlides/notesSlide22.xml" Id="R5e9808fc6f4e42d2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e28b0138c7b94dc8" /><ns0:Relationship Type="http://schemas.openxmlformats.org/officeDocument/2006/relationships/notesSlide" Target="/ppt/notesSlides/notesSlide23.xml" Id="Reab786619a084120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7488e70ea17642a6" /><ns0:Relationship Type="http://schemas.openxmlformats.org/officeDocument/2006/relationships/notesSlide" Target="/ppt/notesSlides/notesSlide24.xml" Id="Re3836c50fb654c1d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f08a7ee45f1a4fe2" /><ns0:Relationship Type="http://schemas.openxmlformats.org/officeDocument/2006/relationships/notesSlide" Target="/ppt/notesSlides/notesSlide25.xml" Id="R8155d1d8c3684522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2ed1b8b1c02a4b76" /><ns0:Relationship Type="http://schemas.openxmlformats.org/officeDocument/2006/relationships/notesSlide" Target="/ppt/notesSlides/notesSlide26.xml" Id="R88f6c527b2b44b74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3bfa86c3b1864340" /><ns0:Relationship Type="http://schemas.openxmlformats.org/officeDocument/2006/relationships/notesSlide" Target="/ppt/notesSlides/notesSlide27.xml" Id="R712910b6404d49fa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d0eb8dd469a146c1" /><ns0:Relationship Type="http://schemas.openxmlformats.org/officeDocument/2006/relationships/notesSlide" Target="/ppt/notesSlides/notesSlide28.xml" Id="Rf78672dc10cc4165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c715161a27ad45fd" /><ns0:Relationship Type="http://schemas.openxmlformats.org/officeDocument/2006/relationships/image" Target="/ppt/media/image.jpeg" Id="R9913f317efaa4b54" /><ns0:Relationship Type="http://schemas.openxmlformats.org/officeDocument/2006/relationships/notesSlide" Target="/ppt/notesSlides/notesSlide29.xml" Id="R976d837a9ae7427f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8d18a90122324f62" /><ns0:Relationship Type="http://schemas.openxmlformats.org/officeDocument/2006/relationships/notesSlide" Target="/ppt/notesSlides/notesSlide30.xml" Id="R228bfae774174dc5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86c4c9ff29aa4924" /><ns0:Relationship Type="http://schemas.openxmlformats.org/officeDocument/2006/relationships/notesSlide" Target="/ppt/notesSlides/notesSlide31.xml" Id="R6d310562fc274021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6b0930a36a7840ab" /><ns0:Relationship Type="http://schemas.openxmlformats.org/officeDocument/2006/relationships/notesSlide" Target="/ppt/notesSlides/notesSlide32.xml" Id="R9bb216495d0141dc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0e46d011fc254c83" /><ns0:Relationship Type="http://schemas.openxmlformats.org/officeDocument/2006/relationships/notesSlide" Target="/ppt/notesSlides/notesSlide33.xml" Id="R5770c1967b9647cd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0fc0f106f2b94fb5" /><ns0:Relationship Type="http://schemas.openxmlformats.org/officeDocument/2006/relationships/notesSlide" Target="/ppt/notesSlides/notesSlide34.xml" Id="R1e17431b701c45a8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1e563029a6e748bb" /><ns0:Relationship Type="http://schemas.openxmlformats.org/officeDocument/2006/relationships/notesSlide" Target="/ppt/notesSlides/notesSlide35.xml" Id="Rc4d3b66f9aa24f4a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7eeb95a89b0a4167" /><ns0:Relationship Type="http://schemas.openxmlformats.org/officeDocument/2006/relationships/notesSlide" Target="/ppt/notesSlides/notesSlide36.xml" Id="R63d7711f6a9c40c6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ae6064ab97c44984" /><ns0:Relationship Type="http://schemas.openxmlformats.org/officeDocument/2006/relationships/notesSlide" Target="/ppt/notesSlides/notesSlide37.xml" Id="R4d3e0f21890e4d2f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8dc0992c7a8b43fe" /><ns0:Relationship Type="http://schemas.openxmlformats.org/officeDocument/2006/relationships/notesSlide" Target="/ppt/notesSlides/notesSlide38.xml" Id="R8e4b6cb1bdeb4502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3.xml" Id="Rb304d8eb223c4577" /><ns0:Relationship Type="http://schemas.openxmlformats.org/officeDocument/2006/relationships/notesSlide" Target="/ppt/notesSlides/notesSlide39.xml" Id="R27df052fab0f4d86" /></ns0: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ns2:creationId id="{A26C4E0C-0A61-48BA-A854-81D5215DBB95}"/>
              </a:ext>
            </a:extLst>
          </p:cNvPr>
          <p:cNvSpPr/>
          <p:nvPr/>
        </p:nvSpPr>
        <p:spPr>
          <a:xfrm rot="5400000">
            <a:off x="11017617" y="1036731"/>
            <a:ext cx="2211113" cy="137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-4" y="1579033"/>
            <a:ext cx="12192003" cy="376216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b="1" spc="-150" smtClean="0"/>
              <a:t>컴퓨터공학과</a:t>
            </a:r>
            <a:r>
              <a:rPr lang="en-US" altLang="ko-KR" sz="4000" b="1" spc="-150" smtClean="0"/>
              <a:t/>
            </a:r>
            <a:br>
              <a:rPr lang="en-US" altLang="ko-KR" sz="4000" b="1" spc="-150" smtClean="0"/>
            </a:br>
            <a:r>
              <a:rPr lang="ko-KR" altLang="en-US" sz="4000" b="1" spc="-150" err="1" smtClean="0"/>
              <a:t>클라우드</a:t>
            </a:r>
            <a:r>
              <a:rPr lang="ko-KR" altLang="en-US" sz="4000" b="1" spc="-150" smtClean="0"/>
              <a:t> 컴퓨팅</a:t>
            </a:r>
            <a:r>
              <a:rPr lang="en-US" altLang="ko-KR" sz="4000" b="1" spc="-150" smtClean="0"/>
              <a:t>(Cloud Computing)</a:t>
            </a:r>
            <a:br>
              <a:rPr lang="en-US" altLang="ko-KR" sz="4000" b="1" spc="-150" smtClean="0"/>
            </a:br>
            <a:r>
              <a:rPr lang="ko-KR" altLang="en-US" sz="4000" b="1" spc="-150" smtClean="0"/>
              <a:t>컨테이너 오케스트레이션 - 2 (Kubernetes)</a:t>
            </a:r>
            <a:endParaRPr lang="en-US" altLang="ko-KR" sz="4000" b="1" spc="-150"/>
          </a:p>
        </p:txBody>
      </p:sp>
    </p:spTree>
    <p:extLst>
      <p:ext uri="{BB962C8B-B14F-4D97-AF65-F5344CB8AC3E}">
        <ns3:creationId val="134408767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7E3A38F1-2290-47EA-91E5-7991BE861466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A9A9E027-F787-45FD-B446-774A90B09787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이번 주 실습 순서</a:t>
            </a:r>
          </a:p>
        </p:txBody>
      </p:sp>
      <p:sp>
        <p:nvSpPr>
          <p:cNvPr id="3" name="">
            <a:extLst>
              <a:ext uri="{FF2B5EF4-FFF2-40B4-BE49-F238E27FC236}">
                <ns2:creationId id="{9888D516-D70D-4220-85E7-7D8281D5E4B2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1. Kubernetes의 구조와 동작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2. 지난주 앱 이미지 생성과 Compose 복습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3. Minikube 준비와 kubectl 기본 조작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4. Deployment·Service 배포와 기능 확인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5. 확장·복구·업데이트·롤백·정리</a:t>
            </a:r>
          </a:p>
        </p:txBody>
      </p:sp>
    </p:spTree>
    <p:extLst>
      <p:ext uri="{BB962C8B-B14F-4D97-AF65-F5344CB8AC3E}">
        <ns3:creationId val="97968727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704AECED-622B-40E5-9081-E160A297888F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개념</a:t>
            </a:r>
          </a:p>
        </p:txBody>
      </p:sp>
      <p:sp>
        <p:nvSpPr>
          <p:cNvPr id="2" name="">
            <a:extLst>
              <a:ext uri="{FF2B5EF4-FFF2-40B4-BE49-F238E27FC236}">
                <ns2:creationId id="{3834AEC1-8F74-4907-ABC1-46FD6F6946BD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Kubernetes</a:t>
            </a:r>
          </a:p>
        </p:txBody>
      </p:sp>
      <p:sp>
        <p:nvSpPr>
          <p:cNvPr id="3" name="">
            <a:extLst>
              <a:ext uri="{FF2B5EF4-FFF2-40B4-BE49-F238E27FC236}">
                <ns2:creationId id="{DD871582-F20E-400C-8E41-2C5F1A812441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27813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컨테이너 오케스트레이션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을 위한 플랫폼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Google에서 시작한 오픈소스 프로젝트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CNCF(Cloud Native Computing Foundation)에서 관리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선언한 상태를 기준으로 배포·확장·복구 관리</a:t>
            </a:r>
          </a:p>
        </p:txBody>
      </p:sp>
    </p:spTree>
    <p:extLst>
      <p:ext uri="{BB962C8B-B14F-4D97-AF65-F5344CB8AC3E}">
        <ns3:creationId val="60413913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9060493B-27BE-4B2A-9DC5-A3D5FB28961C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개념</a:t>
            </a:r>
          </a:p>
        </p:txBody>
      </p:sp>
      <p:sp>
        <p:nvSpPr>
          <p:cNvPr id="2" name="">
            <a:extLst>
              <a:ext uri="{FF2B5EF4-FFF2-40B4-BE49-F238E27FC236}">
                <ns2:creationId id="{42A893DE-153C-4483-86E7-FE462DBEE68A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주요 구성 요소</a:t>
            </a:r>
          </a:p>
        </p:txBody>
      </p:sp>
      <p:sp>
        <p:nvSpPr>
          <p:cNvPr id="3" name="">
            <a:extLst>
              <a:ext uri="{FF2B5EF4-FFF2-40B4-BE49-F238E27FC236}">
                <ns2:creationId id="{D49778C8-8F5C-438A-8A50-1270463DBB27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Node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: Pod를 실행하는 컴퓨팅 환경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Pod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: 하나 이상의 컨테이너를 묶는 최소 배포 단위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Deployment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: Pod 템플릿·복제 수·업데이트 관리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Service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: 선택한 Pod로 연결하는 안정된 주소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Namespace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: 클러스터 안의 논리적인 작업 영역</a:t>
            </a:r>
          </a:p>
        </p:txBody>
      </p:sp>
    </p:spTree>
    <p:extLst>
      <p:ext uri="{BB962C8B-B14F-4D97-AF65-F5344CB8AC3E}">
        <ns3:creationId val="1140256707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DE455414-C92A-46D6-9323-FE9B1885050F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개념</a:t>
            </a:r>
          </a:p>
        </p:txBody>
      </p:sp>
      <p:sp>
        <p:nvSpPr>
          <p:cNvPr id="2" name="">
            <a:extLst>
              <a:ext uri="{FF2B5EF4-FFF2-40B4-BE49-F238E27FC236}">
                <ns2:creationId id="{D506F070-5C96-4F24-8045-08479D27CE86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Control Plane과 Node</a:t>
            </a:r>
          </a:p>
        </p:txBody>
      </p:sp>
      <p:sp>
        <p:nvSpPr>
          <p:cNvPr id="3" name="">
            <a:extLst>
              <a:ext uri="{FF2B5EF4-FFF2-40B4-BE49-F238E27FC236}">
                <ns2:creationId id="{D4EB9EE0-1295-44FA-A78F-EAFBBE7A448F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Control Plane: 클러스터 상태 관리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API Server: 요청 수신, etcd: 설정과 상태 저장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Scheduler: 노드 선택, Controller: 원하는 상태 유지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Node: kubelet이 Pod 상태를 보고하고 런타임이 실행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컨테이너 런타임의 예: containerd, CRI-O</a:t>
            </a:r>
          </a:p>
        </p:txBody>
      </p:sp>
      <p:sp>
        <p:nvSpPr>
          <p:cNvPr id="4" name="">
            <a:extLst>
              <a:ext uri="{FF2B5EF4-FFF2-40B4-BE49-F238E27FC236}">
                <ns2:creationId id="{C52FEBBC-A00F-4DEC-9A58-1B6E17C893E9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Docker Engine을 Kubernetes 런타임으로 쓰려면 CRI 연결 구성요소가 필요합니다.</a:t>
            </a:r>
          </a:p>
        </p:txBody>
      </p:sp>
    </p:spTree>
    <p:extLst>
      <p:ext uri="{BB962C8B-B14F-4D97-AF65-F5344CB8AC3E}">
        <ns3:creationId val="1822891285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E11AD26A-F1AB-4C3A-B5A2-54ED6511394A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개념</a:t>
            </a:r>
          </a:p>
        </p:txBody>
      </p:sp>
      <p:sp>
        <p:nvSpPr>
          <p:cNvPr id="2" name="">
            <a:extLst>
              <a:ext uri="{FF2B5EF4-FFF2-40B4-BE49-F238E27FC236}">
                <ns2:creationId id="{1181B98F-76B6-41A9-87D5-084AD2B44D05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원하는 상태와 실제 상태</a:t>
            </a:r>
          </a:p>
        </p:txBody>
      </p:sp>
      <p:sp>
        <p:nvSpPr>
          <p:cNvPr id="3" name="">
            <a:extLst>
              <a:ext uri="{FF2B5EF4-FFF2-40B4-BE49-F238E27FC236}">
                <ns2:creationId id="{9844F3C7-F99F-4F65-AB6D-41A5FE221A70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사용자가 YAML에 원하는 Pod 수와 이미지를 선언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kubectl이 API Server에 적용 요청 전달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컨트롤러가 원하는 상태와 실제 상태를 비교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Scheduler가 배치하고 kubelet·런타임이 실행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Pod를 삭제하면 Deployment가 새 Pod 생성</a:t>
            </a:r>
          </a:p>
        </p:txBody>
      </p:sp>
      <p:sp>
        <p:nvSpPr>
          <p:cNvPr id="4" name="">
            <a:extLst>
              <a:ext uri="{FF2B5EF4-FFF2-40B4-BE49-F238E27FC236}">
                <ns2:creationId id="{BC0C2AF1-05FA-4366-B155-4C10A579B76E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자동 복구와 부하에 따른 자동 확장(HPA)은 서로 다른 동작입니다.</a:t>
            </a:r>
          </a:p>
        </p:txBody>
      </p:sp>
    </p:spTree>
    <p:extLst>
      <p:ext uri="{BB962C8B-B14F-4D97-AF65-F5344CB8AC3E}">
        <ns3:creationId val="130456851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81CB2C9F-4DB1-4C1F-9D2E-D43C8642A82F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BE66EE86-109E-4F35-B6D0-7FEAF5EC5542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지난주 앱 연결</a:t>
            </a:r>
          </a:p>
        </p:txBody>
      </p:sp>
      <p:sp>
        <p:nvSpPr>
          <p:cNvPr id="3" name="">
            <a:extLst>
              <a:ext uri="{FF2B5EF4-FFF2-40B4-BE49-F238E27FC236}">
                <ns2:creationId id="{EDEC9DDB-43C4-4DBE-99BD-CC4B872A07BA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27813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nginx: HTML 화면 제공과 /api/ 요청 전달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Flask: 프로젝트 검색과 소개글 분량 검사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이번 주 추가: health 응답의 </a:t>
            </a: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version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과 </a:t>
            </a: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pod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Compose와 Kubernetes에서 같은 앱·이미지 사용</a:t>
            </a:r>
          </a:p>
        </p:txBody>
      </p:sp>
      <p:sp>
        <p:nvSpPr>
          <p:cNvPr id="4" name="">
            <a:extLst>
              <a:ext uri="{FF2B5EF4-FFF2-40B4-BE49-F238E27FC236}">
                <ns2:creationId id="{00E15E37-A3D0-4E7A-A192-66B26DC9212B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SQLite 조회수 과제의 공유 저장소 문제는 기본 실습에서 다루지 않습니다.</a:t>
            </a:r>
          </a:p>
        </p:txBody>
      </p:sp>
    </p:spTree>
    <p:extLst>
      <p:ext uri="{BB962C8B-B14F-4D97-AF65-F5344CB8AC3E}">
        <ns3:creationId val="139403090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DFE90FC5-260B-4ED5-A8F8-5303EBC6AE35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7E34B58D-5E0C-499A-AAE1-FD67DCA33448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새 저장소와 작업 폴더</a:t>
            </a:r>
          </a:p>
        </p:txBody>
      </p:sp>
      <p:sp>
        <p:nvSpPr>
          <p:cNvPr id="3" name="">
            <a:extLst>
              <a:ext uri="{FF2B5EF4-FFF2-40B4-BE49-F238E27FC236}">
                <ns2:creationId id="{CC190BFF-3031-412A-B5CE-48C81E64AB13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교수자 week6_practice를 본인 계정으로 Fork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본인 작업 폴더에서 명령 실행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이후 모든 명령은 복제한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week6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 폴더 기준</a:t>
            </a:r>
          </a:p>
        </p:txBody>
      </p:sp>
      <p:sp>
        <p:nvSpPr>
          <p:cNvPr id="4" name="">
            <a:extLst>
              <a:ext uri="{FF2B5EF4-FFF2-40B4-BE49-F238E27FC236}">
                <ns2:creationId id="{63AC63FA-5326-422A-93BC-294CF67C33C6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git clone https://github.com/내계정/week6_practice.git week6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Set-Location .\week6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code .</a:t>
            </a:r>
          </a:p>
        </p:txBody>
      </p:sp>
      <p:sp>
        <p:nvSpPr>
          <p:cNvPr id="5" name="">
            <a:extLst>
              <a:ext uri="{FF2B5EF4-FFF2-40B4-BE49-F238E27FC236}">
                <ns2:creationId id="{081E6FEC-0127-4D13-901F-7B03228FA119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교수자 저장소: https://github.com/Mok2Lee/week6_practice</a:t>
            </a:r>
          </a:p>
        </p:txBody>
      </p:sp>
    </p:spTree>
    <p:extLst>
      <p:ext uri="{BB962C8B-B14F-4D97-AF65-F5344CB8AC3E}">
        <ns3:creationId val="649715654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2D3EE276-6629-48C4-801F-C0C018AF1BA1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AC3C3CBB-FCC9-4789-B971-D5884CF623A3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실습 환경 확인</a:t>
            </a:r>
          </a:p>
        </p:txBody>
      </p:sp>
      <p:sp>
        <p:nvSpPr>
          <p:cNvPr id="3" name="">
            <a:extLst>
              <a:ext uri="{FF2B5EF4-FFF2-40B4-BE49-F238E27FC236}">
                <ns2:creationId id="{813AB897-7906-4292-B3FA-68D8552A6711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Docker Desktop의 Linux 컨테이너 엔진 실행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VS Code 터미널은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PowerShell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 선택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Docker Client와 Server 버전 모두 표시</a:t>
            </a:r>
          </a:p>
        </p:txBody>
      </p:sp>
      <p:sp>
        <p:nvSpPr>
          <p:cNvPr id="4" name="">
            <a:extLst>
              <a:ext uri="{FF2B5EF4-FFF2-40B4-BE49-F238E27FC236}">
                <ns2:creationId id="{C339A80B-B1CE-4DE5-A8D1-B4DAB72CFDC0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version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compose version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version --client</a:t>
            </a:r>
          </a:p>
        </p:txBody>
      </p:sp>
      <p:sp>
        <p:nvSpPr>
          <p:cNvPr id="5" name="">
            <a:extLst>
              <a:ext uri="{FF2B5EF4-FFF2-40B4-BE49-F238E27FC236}">
                <ns2:creationId id="{ACFCCD82-342D-4E41-825F-0052BAD90196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Server가 없으면 Docker Desktop 준비 상태부터 확인합니다.</a:t>
            </a:r>
          </a:p>
        </p:txBody>
      </p:sp>
    </p:spTree>
    <p:extLst>
      <p:ext uri="{BB962C8B-B14F-4D97-AF65-F5344CB8AC3E}">
        <ns3:creationId val="607782165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33FB0AC4-80A9-4D18-A4E8-1C0A85C69F7D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0FEBABB6-45CB-4833-86AB-AC69CF5BCE68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이미지 생성 복습</a:t>
            </a:r>
          </a:p>
        </p:txBody>
      </p:sp>
      <p:sp>
        <p:nvSpPr>
          <p:cNvPr id="3" name="">
            <a:extLst>
              <a:ext uri="{FF2B5EF4-FFF2-40B4-BE49-F238E27FC236}">
                <ns2:creationId id="{82488ACB-BBBD-48E6-B509-9EF8A7D391C4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이미지: 코드·라이브러리·실행 명령을 담은 묶음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Flask는 이미지 안에 설치하므로 Windows 설치 불필요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두 이미지를 생성하고 태그 확인</a:t>
            </a:r>
          </a:p>
        </p:txBody>
      </p:sp>
      <p:sp>
        <p:nvSpPr>
          <p:cNvPr id="4" name="">
            <a:extLst>
              <a:ext uri="{FF2B5EF4-FFF2-40B4-BE49-F238E27FC236}">
                <ns2:creationId id="{7B4370BC-1EF1-4251-9626-C26C680FCB8F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build -t week6-api:v1 ./api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build -t week6-web:v1 ./nginx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image ls</a:t>
            </a:r>
          </a:p>
        </p:txBody>
      </p:sp>
      <p:sp>
        <p:nvSpPr>
          <p:cNvPr id="5" name="">
            <a:extLst>
              <a:ext uri="{FF2B5EF4-FFF2-40B4-BE49-F238E27FC236}">
                <ns2:creationId id="{333A5BEF-139B-4936-BA29-1CFD31E38393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예상 결과: week6-api:v1, week6-web:v1</a:t>
            </a:r>
          </a:p>
        </p:txBody>
      </p:sp>
    </p:spTree>
    <p:extLst>
      <p:ext uri="{BB962C8B-B14F-4D97-AF65-F5344CB8AC3E}">
        <ns3:creationId val="133045033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BA771820-FEE3-41D3-B975-965324A89058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7E1DADBE-85B1-4CA9-8F2F-CC736382AA3D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학교 인증서 오류 구분</a:t>
            </a:r>
          </a:p>
        </p:txBody>
      </p:sp>
      <p:sp>
        <p:nvSpPr>
          <p:cNvPr id="3" name="">
            <a:extLst>
              <a:ext uri="{FF2B5EF4-FFF2-40B4-BE49-F238E27FC236}">
                <ns2:creationId id="{EA131F58-375F-44C8-BCCE-F89F8FA20ED9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기본 Dockerfile은 TLS 인증서를 검증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pip 설치 오류와 Docker 이미지 pull 오류를 구분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정상 해결: IT 담당자가 확인한 CA 번들 사용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Dockerfile.school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은 학교 실습 한정 별도 선택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trusted-host는 중간자 공격·패키지 변조 위험 존재</a:t>
            </a:r>
          </a:p>
        </p:txBody>
      </p:sp>
      <p:sp>
        <p:nvSpPr>
          <p:cNvPr id="4" name="">
            <a:extLst>
              <a:ext uri="{FF2B5EF4-FFF2-40B4-BE49-F238E27FC236}">
                <ns2:creationId id="{84B18AE8-AE36-47DA-8F67-19157213FF44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OS·전역 pip 설정을 바꾸거나 브라우저 보안 경고를 넘기지 않습니다.</a:t>
            </a:r>
          </a:p>
        </p:txBody>
      </p:sp>
    </p:spTree>
    <p:extLst>
      <p:ext uri="{BB962C8B-B14F-4D97-AF65-F5344CB8AC3E}">
        <ns3:creationId val="82252229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E8AF2972-AE56-403B-BCD9-90CB83D953E8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B2879B0E-B081-4183-9F0C-08C75A694D5A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학교 실습 한정 빌드</a:t>
            </a:r>
          </a:p>
        </p:txBody>
      </p:sp>
      <p:sp>
        <p:nvSpPr>
          <p:cNvPr id="3" name="">
            <a:extLst>
              <a:ext uri="{FF2B5EF4-FFF2-40B4-BE49-F238E27FC236}">
                <ns2:creationId id="{49E5F602-8D6C-4FED-817E-8804DC8AE448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교수자가 학교의 인증서 문제임을 확인한 경우만 사용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PyPI 두 호스트에만 trusted-host 적용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requirements.txt의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Flask==3.1.2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 고정 유지</a:t>
            </a:r>
          </a:p>
        </p:txBody>
      </p:sp>
      <p:sp>
        <p:nvSpPr>
          <p:cNvPr id="4" name="">
            <a:extLst>
              <a:ext uri="{FF2B5EF4-FFF2-40B4-BE49-F238E27FC236}">
                <ns2:creationId id="{DF53A63F-FA6B-4C6A-83AE-03BEDEF59AC3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67627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build -f ./api/Dockerfile.school -t week6-api:v1 ./api</a:t>
            </a:r>
          </a:p>
        </p:txBody>
      </p:sp>
      <p:sp>
        <p:nvSpPr>
          <p:cNvPr id="5" name="">
            <a:extLst>
              <a:ext uri="{FF2B5EF4-FFF2-40B4-BE49-F238E27FC236}">
                <ns2:creationId id="{F5790C74-E11F-4BE0-B845-2D1DEBF0E540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정상 CA 방식과 v2 빌드는 docs/school-network.md를 확인합니다.</a:t>
            </a:r>
          </a:p>
        </p:txBody>
      </p:sp>
    </p:spTree>
    <p:extLst>
      <p:ext uri="{BB962C8B-B14F-4D97-AF65-F5344CB8AC3E}">
        <ns3:creationId val="188925033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1E5004F5-FF33-4FC2-9304-D83AB0FA6C99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A5980B5F-C209-4BBC-B90B-DD661755A709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Compose 실행과 확인</a:t>
            </a:r>
          </a:p>
        </p:txBody>
      </p:sp>
      <p:sp>
        <p:nvSpPr>
          <p:cNvPr id="3" name="">
            <a:extLst>
              <a:ext uri="{FF2B5EF4-FFF2-40B4-BE49-F238E27FC236}">
                <ns2:creationId id="{15D23FA5-EAD1-4B24-AAE4-D1E2C95E3118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compose.yaml: api와 nginx 두 서비스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HTTP 200, status ok, version v1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브라우저 localhost:8080에서 검색·분량 검사</a:t>
            </a:r>
          </a:p>
        </p:txBody>
      </p:sp>
      <p:sp>
        <p:nvSpPr>
          <p:cNvPr id="4" name="">
            <a:extLst>
              <a:ext uri="{FF2B5EF4-FFF2-40B4-BE49-F238E27FC236}">
                <ns2:creationId id="{03F347BD-3087-4091-B811-9C59725C0499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9050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compose config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compose up -d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compose ps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curl.exe -i http://localhost:8080/api/health</a:t>
            </a:r>
          </a:p>
        </p:txBody>
      </p:sp>
      <p:sp>
        <p:nvSpPr>
          <p:cNvPr id="5" name="">
            <a:extLst>
              <a:ext uri="{FF2B5EF4-FFF2-40B4-BE49-F238E27FC236}">
                <ns2:creationId id="{93B630FC-D659-46EA-A5D9-E8706154FE3E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학교용으로 빌드했으면 --build를 붙이지 않습니다.</a:t>
            </a:r>
          </a:p>
        </p:txBody>
      </p:sp>
    </p:spTree>
    <p:extLst>
      <p:ext uri="{BB962C8B-B14F-4D97-AF65-F5344CB8AC3E}">
        <ns3:creationId val="102929807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EA44F050-B754-4D22-ADED-64F1DDB4A9BD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92B860CE-4CD0-48B7-A35E-FDAA910108EB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Compose 로그와 정리</a:t>
            </a:r>
          </a:p>
        </p:txBody>
      </p:sp>
      <p:sp>
        <p:nvSpPr>
          <p:cNvPr id="3" name="">
            <a:extLst>
              <a:ext uri="{FF2B5EF4-FFF2-40B4-BE49-F238E27FC236}">
                <ns2:creationId id="{708A011A-6645-456F-BC78-D81FB046DA91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502이면 api 준비 상태와 로그 확인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Kubernetes에서 8080을 쓰기 전에 Compose 종료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down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 후에도 이미지는 남음</a:t>
            </a:r>
          </a:p>
        </p:txBody>
      </p:sp>
      <p:sp>
        <p:nvSpPr>
          <p:cNvPr id="4" name="">
            <a:extLst>
              <a:ext uri="{FF2B5EF4-FFF2-40B4-BE49-F238E27FC236}">
                <ns2:creationId id="{9D95A0E4-DC6D-4674-BD47-49F3982D63B8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0858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compose logs --tail 10 api nginx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compose down</a:t>
            </a:r>
          </a:p>
        </p:txBody>
      </p:sp>
      <p:sp>
        <p:nvSpPr>
          <p:cNvPr id="5" name="">
            <a:extLst>
              <a:ext uri="{FF2B5EF4-FFF2-40B4-BE49-F238E27FC236}">
                <ns2:creationId id="{D69BD7FC-2FBA-4F4B-BCC4-13CABF6EC172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다른 프로젝트 컨테이너나 네트워크를 삭제하지 않습니다.</a:t>
            </a:r>
          </a:p>
        </p:txBody>
      </p:sp>
    </p:spTree>
    <p:extLst>
      <p:ext uri="{BB962C8B-B14F-4D97-AF65-F5344CB8AC3E}">
        <ns3:creationId val="1150379619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15664A6F-391D-462E-8389-D51FA1A92020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FD191FF4-3EA4-4B16-A69E-8A3642138778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Minikube</a:t>
            </a:r>
          </a:p>
        </p:txBody>
      </p:sp>
      <p:sp>
        <p:nvSpPr>
          <p:cNvPr id="3" name="">
            <a:extLst>
              <a:ext uri="{FF2B5EF4-FFF2-40B4-BE49-F238E27FC236}">
                <ns2:creationId id="{C25AC99A-6716-4202-B74E-E62EA7536014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27813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로컬 PC에 학습용 Kubernetes 클러스터 구성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Docker 드라이버로 학습용 노드 실행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Windows Minikube 사용, Ubuntu 추가 설치 불필요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Docker Desktop 내장 Kubernetes는 별도 활성화 불필요</a:t>
            </a:r>
          </a:p>
        </p:txBody>
      </p:sp>
      <p:sp>
        <p:nvSpPr>
          <p:cNvPr id="4" name="">
            <a:extLst>
              <a:ext uri="{FF2B5EF4-FFF2-40B4-BE49-F238E27FC236}">
                <ns2:creationId id="{357F31A0-1C5E-45DA-BEA8-AB43787576F6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공식 안내: https://minikube.sigs.k8s.io/docs/start/</a:t>
            </a:r>
          </a:p>
        </p:txBody>
      </p:sp>
    </p:spTree>
    <p:extLst>
      <p:ext uri="{BB962C8B-B14F-4D97-AF65-F5344CB8AC3E}">
        <ns3:creationId val="651475656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2FAA9879-2FB6-44AD-95B2-A4C603FA886A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B66918BB-51A8-43D0-A9B4-FEB54E6D1E8D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Minikube 설치 확인</a:t>
            </a:r>
          </a:p>
        </p:txBody>
      </p:sp>
      <p:sp>
        <p:nvSpPr>
          <p:cNvPr id="3" name="">
            <a:extLst>
              <a:ext uri="{FF2B5EF4-FFF2-40B4-BE49-F238E27FC236}">
                <ns2:creationId id="{6FF5DAE6-8FA7-41A3-8479-91DEE1D8985A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설치되어 있으면 설치 단계를 반복하지 않음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학교 제공 검증 파일 또는 공식 설치 안내 사용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winget 설치 후 새 PowerShell 터미널 열기</a:t>
            </a:r>
          </a:p>
        </p:txBody>
      </p:sp>
      <p:sp>
        <p:nvSpPr>
          <p:cNvPr id="4" name="">
            <a:extLst>
              <a:ext uri="{FF2B5EF4-FFF2-40B4-BE49-F238E27FC236}">
                <ns2:creationId id="{A4B175DE-D7A9-422B-9EE1-D9C77DE3BAAA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0858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winget install Kubernetes.minikube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version</a:t>
            </a:r>
          </a:p>
        </p:txBody>
      </p:sp>
      <p:sp>
        <p:nvSpPr>
          <p:cNvPr id="5" name="">
            <a:extLst>
              <a:ext uri="{FF2B5EF4-FFF2-40B4-BE49-F238E27FC236}">
                <ns2:creationId id="{FAB5F3F0-5B3D-450B-A975-4959D9360C5C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최소 2 CPU·여유 메모리 2GB·디스크 20GB와 인터넷이 필요합니다.</a:t>
            </a:r>
          </a:p>
        </p:txBody>
      </p:sp>
    </p:spTree>
    <p:extLst>
      <p:ext uri="{BB962C8B-B14F-4D97-AF65-F5344CB8AC3E}">
        <ns3:creationId val="997349976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799A97D4-91D5-4179-978B-C0B1130859F9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15B6F977-22C2-400F-B424-1C6FC7F97C81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실습 클러스터 시작</a:t>
            </a:r>
          </a:p>
        </p:txBody>
      </p:sp>
      <p:sp>
        <p:nvSpPr>
          <p:cNvPr id="3" name="">
            <a:extLst>
              <a:ext uri="{FF2B5EF4-FFF2-40B4-BE49-F238E27FC236}">
                <ns2:creationId id="{3945D15A-72BF-46AB-85A0-10E5D62A74D7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이번 주 전용 프로필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week6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 사용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최초 실행은 노드·Kubernetes 이미지 다운로드 필요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노드 상태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Ready</a:t>
            </a:r>
          </a:p>
        </p:txBody>
      </p:sp>
      <p:sp>
        <p:nvSpPr>
          <p:cNvPr id="4" name="">
            <a:extLst>
              <a:ext uri="{FF2B5EF4-FFF2-40B4-BE49-F238E27FC236}">
                <ns2:creationId id="{C4C33065-DBF3-4F15-BA09-ED7EB0EBF9F3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start -p week6 --driver=docker --cpus=2 --memory=3072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status -p week6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get nodes</a:t>
            </a:r>
          </a:p>
        </p:txBody>
      </p:sp>
      <p:sp>
        <p:nvSpPr>
          <p:cNvPr id="5" name="">
            <a:extLst>
              <a:ext uri="{FF2B5EF4-FFF2-40B4-BE49-F238E27FC236}">
                <ns2:creationId id="{95A70207-6936-4844-AF28-01474F1B0455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오류 시 minikube logs -p week6 --problems로 원인을 확인합니다.</a:t>
            </a:r>
          </a:p>
        </p:txBody>
      </p:sp>
    </p:spTree>
    <p:extLst>
      <p:ext uri="{BB962C8B-B14F-4D97-AF65-F5344CB8AC3E}">
        <ns3:creationId val="1989887905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E50F47D1-483F-4DC7-BCB8-92BF7DE09C1E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1C3D2FF7-4B4F-4FA4-BAF9-F8CF23D812FC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kubectl 버전 맞추기</a:t>
            </a:r>
          </a:p>
        </p:txBody>
      </p:sp>
      <p:sp>
        <p:nvSpPr>
          <p:cNvPr id="3" name="">
            <a:extLst>
              <a:ext uri="{FF2B5EF4-FFF2-40B4-BE49-F238E27FC236}">
                <ns2:creationId id="{1C2A2DB4-3D0F-4C61-B631-6677681CB740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Docker Desktop의 kubectl이 서버보다 오래될 수 있음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Minikube가 제공하는 호환 버전을 현재 터미널에서 사용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새 터미널 B에서도 함수 한 줄을 다시 실행</a:t>
            </a:r>
          </a:p>
        </p:txBody>
      </p:sp>
      <p:sp>
        <p:nvSpPr>
          <p:cNvPr id="4" name="">
            <a:extLst>
              <a:ext uri="{FF2B5EF4-FFF2-40B4-BE49-F238E27FC236}">
                <ns2:creationId id="{05E6D7F7-37A0-44BA-8289-31D371B543F7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function kubectl { minikube kubectl -p week6 -- @args }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version --client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get nodes</a:t>
            </a:r>
          </a:p>
        </p:txBody>
      </p:sp>
      <p:sp>
        <p:nvSpPr>
          <p:cNvPr id="5" name="">
            <a:extLst>
              <a:ext uri="{FF2B5EF4-FFF2-40B4-BE49-F238E27FC236}">
                <ns2:creationId id="{A4060206-F809-47AE-A32D-28DDF3B04856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OS·전역 PATH·PowerShell 프로필은 바꾸지 않으며 터미널을 닫으면 해제됩니다.</a:t>
            </a:r>
          </a:p>
        </p:txBody>
      </p:sp>
    </p:spTree>
    <p:extLst>
      <p:ext uri="{BB962C8B-B14F-4D97-AF65-F5344CB8AC3E}">
        <ns3:creationId val="239294087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9189FE9E-41DD-4AC0-A6C1-F725D019A7D0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68B386A2-362B-49C7-9937-ACF195D4677B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kubectl 기본 명령</a:t>
            </a:r>
          </a:p>
        </p:txBody>
      </p:sp>
      <p:sp>
        <p:nvSpPr>
          <p:cNvPr id="3" name="">
            <a:extLst>
              <a:ext uri="{FF2B5EF4-FFF2-40B4-BE49-F238E27FC236}">
                <ns2:creationId id="{1B9AC692-8D58-48E5-9DC5-0D3AED010D3B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get: 리소스 목록과 상태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describe: 세부 설정·이벤트·실패 원인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logs: 컨테이너 출력 로그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apply -f: YAML 적용, delete: 지정 리소스 삭제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명령 구조: kubectl 명령 리소스 이름 옵션</a:t>
            </a:r>
          </a:p>
        </p:txBody>
      </p:sp>
      <p:sp>
        <p:nvSpPr>
          <p:cNvPr id="4" name="">
            <a:extLst>
              <a:ext uri="{FF2B5EF4-FFF2-40B4-BE49-F238E27FC236}">
                <ns2:creationId id="{D7BFFA66-4526-4EFF-8E94-70050B039842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--context=week6을 명시해 다른 클러스터와 구분합니다.</a:t>
            </a:r>
          </a:p>
        </p:txBody>
      </p:sp>
    </p:spTree>
    <p:extLst>
      <p:ext uri="{BB962C8B-B14F-4D97-AF65-F5344CB8AC3E}">
        <ns3:creationId val="2037546242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FE4A8AD6-EAF8-451A-9CF1-6C2D6B63BA1A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A20C2D65-F5C2-4DAF-B879-6D85BDE2F64B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로컬 이미지 전달</a:t>
            </a:r>
          </a:p>
        </p:txBody>
      </p:sp>
      <p:sp>
        <p:nvSpPr>
          <p:cNvPr id="3" name="">
            <a:extLst>
              <a:ext uri="{FF2B5EF4-FFF2-40B4-BE49-F238E27FC236}">
                <ns2:creationId id="{217F8789-D7F2-4676-95EC-4636D2EB6738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호스트 Docker 이미지와 노드 이미지 저장소는 별개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image load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로 만든 이미지를 노드에 전달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v1 이미지 두 개가 목록에 표시</a:t>
            </a:r>
          </a:p>
        </p:txBody>
      </p:sp>
      <p:sp>
        <p:nvSpPr>
          <p:cNvPr id="4" name="">
            <a:extLst>
              <a:ext uri="{FF2B5EF4-FFF2-40B4-BE49-F238E27FC236}">
                <ns2:creationId id="{9AB2EA04-3B3C-4A03-ADE7-215D9F1A7B4A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image load week6-api:v1 -p week6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image load week6-web:v1 -p week6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image ls -p week6</a:t>
            </a:r>
          </a:p>
        </p:txBody>
      </p:sp>
      <p:sp>
        <p:nvSpPr>
          <p:cNvPr id="5" name="">
            <a:extLst>
              <a:ext uri="{FF2B5EF4-FFF2-40B4-BE49-F238E27FC236}">
                <ns2:creationId id="{CD5F6878-577C-4A0F-B137-35AB3C109CDA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이미지 태그가 다르거나 load가 빠지면 ErrImageNeverPull이 발생합니다.</a:t>
            </a:r>
          </a:p>
        </p:txBody>
      </p:sp>
    </p:spTree>
    <p:extLst>
      <p:ext uri="{BB962C8B-B14F-4D97-AF65-F5344CB8AC3E}">
        <ns3:creationId val="310624971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D3086B07-B990-4A07-B471-28CF95E2F6B1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A1B475CF-0FBA-4E05-8982-56FBF2E18070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Namespace와 YAML</a:t>
            </a:r>
          </a:p>
        </p:txBody>
      </p:sp>
      <p:sp>
        <p:nvSpPr>
          <p:cNvPr id="3" name="">
            <a:extLst>
              <a:ext uri="{FF2B5EF4-FFF2-40B4-BE49-F238E27FC236}">
                <ns2:creationId id="{6CDD961C-E48D-40A2-9587-F4C5EBDADDC2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Namespace는 이번 수업 자원을 구분하는 작업 영역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YAML 들여쓰기는 공백, ---는 리소스 구분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첫 조회의 No resources found는 정상</a:t>
            </a:r>
          </a:p>
        </p:txBody>
      </p:sp>
      <p:sp>
        <p:nvSpPr>
          <p:cNvPr id="4" name="">
            <a:extLst>
              <a:ext uri="{FF2B5EF4-FFF2-40B4-BE49-F238E27FC236}">
                <ns2:creationId id="{F7339635-2E3C-4948-8E71-B29EB47B7336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0858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apply -f ./k8s/00-namespace.yaml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get pods</a:t>
            </a:r>
          </a:p>
        </p:txBody>
      </p:sp>
      <p:sp>
        <p:nvSpPr>
          <p:cNvPr id="5" name="">
            <a:extLst>
              <a:ext uri="{FF2B5EF4-FFF2-40B4-BE49-F238E27FC236}">
                <ns2:creationId id="{2C16FF39-14E9-4868-BE9E-866FF45BD761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VS Code에서 k8s/api.yaml과 k8s/web.yaml을 엽니다.</a:t>
            </a:r>
          </a:p>
        </p:txBody>
      </p:sp>
    </p:spTree>
    <p:extLst>
      <p:ext uri="{BB962C8B-B14F-4D97-AF65-F5344CB8AC3E}">
        <ns3:creationId val="39446885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1D9EC664-4311-481B-9E31-CCD0F4CC6486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B3E83ED8-0831-4219-BFC2-49739D97919C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Deployment 설정</a:t>
            </a:r>
          </a:p>
        </p:txBody>
      </p:sp>
      <p:sp>
        <p:nvSpPr>
          <p:cNvPr id="3" name="">
            <a:extLst>
              <a:ext uri="{FF2B5EF4-FFF2-40B4-BE49-F238E27FC236}">
                <ns2:creationId id="{BC539A0A-7B78-45BA-9302-7DCF182B320D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replicas: 원하는 Pod 수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template: 새 Pod의 컨테이너·이미지 설정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selector와 template.labels는 같은 대상을 가리킴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imagePullPolicy Never: 이번 실습은 로컬 이미지 사용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readinessProbe: 요청을 받을 준비 상태 확인</a:t>
            </a:r>
          </a:p>
        </p:txBody>
      </p:sp>
      <p:sp>
        <p:nvSpPr>
          <p:cNvPr id="4" name="">
            <a:extLst>
              <a:ext uri="{FF2B5EF4-FFF2-40B4-BE49-F238E27FC236}">
                <ns2:creationId id="{1A981D30-AD96-449C-A6F9-88398F262EAA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containerPort 선언만으로 앱이 실행되거나 외부에 노출되지는 않습니다.</a:t>
            </a:r>
          </a:p>
        </p:txBody>
      </p:sp>
    </p:spTree>
    <p:extLst>
      <p:ext uri="{BB962C8B-B14F-4D97-AF65-F5344CB8AC3E}">
        <ns3:creationId val="1121670799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82203888-8E7C-4BCC-B972-2AADF927374C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F1A92A44-3344-4654-BDE8-B71935D8A06C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API 배포</a:t>
            </a:r>
          </a:p>
        </p:txBody>
      </p:sp>
      <p:sp>
        <p:nvSpPr>
          <p:cNvPr id="3" name="">
            <a:extLst>
              <a:ext uri="{FF2B5EF4-FFF2-40B4-BE49-F238E27FC236}">
                <ns2:creationId id="{E00CB035-E5B0-4D73-82FB-B239801D9D92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먼저 api Service와 Flask Pod 준비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deployment api successfully rolled out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다음 단계의 nginx가 api:5000으로 연결</a:t>
            </a:r>
          </a:p>
        </p:txBody>
      </p:sp>
      <p:sp>
        <p:nvSpPr>
          <p:cNvPr id="4" name="">
            <a:extLst>
              <a:ext uri="{FF2B5EF4-FFF2-40B4-BE49-F238E27FC236}">
                <ns2:creationId id="{3DE82C09-1BC0-4C0E-AA50-80D40747DBE8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0858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apply -f ./k8s/api.yaml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rollout status deployment/api --timeout=120s</a:t>
            </a:r>
          </a:p>
        </p:txBody>
      </p:sp>
      <p:sp>
        <p:nvSpPr>
          <p:cNvPr id="5" name="">
            <a:extLst>
              <a:ext uri="{FF2B5EF4-FFF2-40B4-BE49-F238E27FC236}">
                <ns2:creationId id="{A2B9DF32-C9CF-4203-86F7-E14C051B31A6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실패하면 describe pod와 logs deployment/api로 원인을 확인합니다.</a:t>
            </a:r>
          </a:p>
        </p:txBody>
      </p:sp>
    </p:spTree>
    <p:extLst>
      <p:ext uri="{BB962C8B-B14F-4D97-AF65-F5344CB8AC3E}">
        <ns3:creationId val="1481377049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987D3880-730F-44D0-A828-97EBAC4242DF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8EE0975B-E1CD-4CE8-AF07-B89E6B8DA9B8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웹 배포와 상태 확인</a:t>
            </a:r>
          </a:p>
        </p:txBody>
      </p:sp>
      <p:sp>
        <p:nvSpPr>
          <p:cNvPr id="3" name="">
            <a:extLst>
              <a:ext uri="{FF2B5EF4-FFF2-40B4-BE49-F238E27FC236}">
                <ns2:creationId id="{A46AD802-983B-412C-90EA-0ED8BD3FB617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API가 준비된 뒤 nginx 배포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api와 web이 각각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1/1 Running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Deployment와 Service가 각각 두 개 존재</a:t>
            </a:r>
          </a:p>
        </p:txBody>
      </p:sp>
      <p:sp>
        <p:nvSpPr>
          <p:cNvPr id="4" name="">
            <a:extLst>
              <a:ext uri="{FF2B5EF4-FFF2-40B4-BE49-F238E27FC236}">
                <ns2:creationId id="{DBEAD595-BA51-4F06-9C65-B0D937C76CB9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apply -f ./k8s/web.yaml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rollout status deployment/web --timeout=120s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get "deployments,pods,services"</a:t>
            </a:r>
          </a:p>
        </p:txBody>
      </p:sp>
    </p:spTree>
    <p:extLst>
      <p:ext uri="{BB962C8B-B14F-4D97-AF65-F5344CB8AC3E}">
        <ns3:creationId val="1601299339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96620752-4EE9-4C19-9322-80173E7269CD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EFC7BEB2-3505-45A0-B4E4-C281C89127AC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Service와 포트</a:t>
            </a:r>
          </a:p>
        </p:txBody>
      </p:sp>
      <p:sp>
        <p:nvSpPr>
          <p:cNvPr id="3" name="">
            <a:extLst>
              <a:ext uri="{FF2B5EF4-FFF2-40B4-BE49-F238E27FC236}">
                <ns2:creationId id="{93D6E9B5-80A5-499A-8106-B5637BA1390D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Pod는 교체되면 이름·IP가 바뀔 수 있음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Service는 selector로 준비된 Pod를 선택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api Service 5000: Flask 5000으로 연결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web Service 80: nginx 80으로 연결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브라우저 8080은 port-forward로 연결</a:t>
            </a:r>
          </a:p>
        </p:txBody>
      </p:sp>
      <p:sp>
        <p:nvSpPr>
          <p:cNvPr id="4" name="">
            <a:extLst>
              <a:ext uri="{FF2B5EF4-FFF2-40B4-BE49-F238E27FC236}">
                <ns2:creationId id="{E01D53D5-0720-41BC-A37A-B939960D5A6A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ClusterIP는 기본적으로 클러스터 내부 접근용입니다.</a:t>
            </a:r>
          </a:p>
        </p:txBody>
      </p:sp>
    </p:spTree>
    <p:extLst>
      <p:ext uri="{BB962C8B-B14F-4D97-AF65-F5344CB8AC3E}">
        <ns3:creationId val="1669686984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76563DD4-E519-4992-86BD-970BC01F0914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27DE30AF-D57B-41C4-AC00-5138616BEDF2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Service 유형</a:t>
            </a:r>
          </a:p>
        </p:txBody>
      </p:sp>
      <p:sp>
        <p:nvSpPr>
          <p:cNvPr id="3" name="">
            <a:extLst>
              <a:ext uri="{FF2B5EF4-FFF2-40B4-BE49-F238E27FC236}">
                <ns2:creationId id="{6913B250-5F2D-4F9B-9674-99BE775371E6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27813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ClusterIP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: 클러스터 내부의 안정된 주소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NodePort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: 노드의 지정 포트로 접근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LoadBalancer</a:t>
            </a: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: 외부 로드밸런서 구현과 연동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이번 실습: ClusterIP와 localhost port-forward 사용</a:t>
            </a:r>
          </a:p>
        </p:txBody>
      </p:sp>
      <p:sp>
        <p:nvSpPr>
          <p:cNvPr id="4" name="">
            <a:extLst>
              <a:ext uri="{FF2B5EF4-FFF2-40B4-BE49-F238E27FC236}">
                <ns2:creationId id="{352B8EA4-9EDE-4165-B62D-55B4304DEBBC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Service가 항상 라운드로빈 순서·균등 분배를 보장하는 것은 아닙니다.</a:t>
            </a:r>
          </a:p>
        </p:txBody>
      </p:sp>
    </p:spTree>
    <p:extLst>
      <p:ext uri="{BB962C8B-B14F-4D97-AF65-F5344CB8AC3E}">
        <ns3:creationId val="190251375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1CC00EFE-3980-458D-9FE3-CD0D6EC14819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67FC18D5-C7CA-4E5E-B485-BAF9DCE4B97D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웹 접속용 터미널 A</a:t>
            </a:r>
          </a:p>
        </p:txBody>
      </p:sp>
      <p:sp>
        <p:nvSpPr>
          <p:cNvPr id="3" name="">
            <a:extLst>
              <a:ext uri="{FF2B5EF4-FFF2-40B4-BE49-F238E27FC236}">
                <ns2:creationId id="{75441D0C-A6D0-498A-B876-E151C576551B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아래 명령을 실행한 채 터미널 유지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Forwarding from 127.0.0.1:8080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브라우저에서 http://localhost:8080 접속</a:t>
            </a:r>
          </a:p>
        </p:txBody>
      </p:sp>
      <p:sp>
        <p:nvSpPr>
          <p:cNvPr id="4" name="">
            <a:extLst>
              <a:ext uri="{FF2B5EF4-FFF2-40B4-BE49-F238E27FC236}">
                <ns2:creationId id="{61945D13-2F0F-4C26-91C5-E66FD6DFB282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67627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port-forward service/web 8080:80</a:t>
            </a:r>
          </a:p>
        </p:txBody>
      </p:sp>
      <p:sp>
        <p:nvSpPr>
          <p:cNvPr id="5" name="">
            <a:extLst>
              <a:ext uri="{FF2B5EF4-FFF2-40B4-BE49-F238E27FC236}">
                <ns2:creationId id="{F5EFEF78-1D72-4A4E-A4EE-3D86B266B821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터미널 종료 또는 연결된 web Pod 교체 시 다시 실행합니다.</a:t>
            </a:r>
          </a:p>
        </p:txBody>
      </p:sp>
    </p:spTree>
    <p:extLst>
      <p:ext uri="{BB962C8B-B14F-4D97-AF65-F5344CB8AC3E}">
        <ns3:creationId val="1861712139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E63C2815-E94F-4D2D-B7BD-0F93A70DDBDE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E0990323-D180-4194-994E-4CDEA1575330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기능 확인용 터미널 B</a:t>
            </a:r>
          </a:p>
        </p:txBody>
      </p:sp>
      <p:sp>
        <p:nvSpPr>
          <p:cNvPr id="3" name="">
            <a:extLst>
              <a:ext uri="{FF2B5EF4-FFF2-40B4-BE49-F238E27FC236}">
                <ns2:creationId id="{6E313928-9DCD-4FF7-99A9-2938FEA693C5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새 PowerShell 터미널을 열어 week6 폴더 확인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health의 pod 값을 get pods 결과와 비교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검색·분량 검사 기능이 Compose 때와 같은지 확인</a:t>
            </a:r>
          </a:p>
        </p:txBody>
      </p:sp>
      <p:sp>
        <p:nvSpPr>
          <p:cNvPr id="4" name="">
            <a:extLst>
              <a:ext uri="{FF2B5EF4-FFF2-40B4-BE49-F238E27FC236}">
                <ns2:creationId id="{9FCC060B-1D2F-49B6-B0A8-D411675524B7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curl.exe -i http://localhost:8080/api/health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get pods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logs deployment/api --tail=10</a:t>
            </a:r>
          </a:p>
        </p:txBody>
      </p:sp>
      <p:sp>
        <p:nvSpPr>
          <p:cNvPr id="5" name="">
            <a:extLst>
              <a:ext uri="{FF2B5EF4-FFF2-40B4-BE49-F238E27FC236}">
                <ns2:creationId id="{7F581D0C-56C4-4CA4-BF15-E726296AD49B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예상 결과: HTTP 200, version v1, api Pod 이름</a:t>
            </a:r>
          </a:p>
        </p:txBody>
      </p:sp>
    </p:spTree>
    <p:extLst>
      <p:ext uri="{BB962C8B-B14F-4D97-AF65-F5344CB8AC3E}">
        <ns3:creationId val="196245072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20EE3EDB-7E4D-4795-A422-A1EDAD1C07DC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7B5DFA8C-E02A-4638-80D0-6DB879B6BDB4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Kubernetes 앱 실행 화면</a:t>
            </a:r>
          </a:p>
        </p:txBody>
      </p:sp>
      <p:sp>
        <p:nvSpPr>
          <p:cNvPr id="3" name="">
            <a:extLst>
              <a:ext uri="{FF2B5EF4-FFF2-40B4-BE49-F238E27FC236}">
                <ns2:creationId id="{09274284-48E5-4D7D-B2DB-647FCAD41BFC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5334000" cy="14859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검색어 캡스톤: 1개 프로젝트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소개글 106자: 권장 분량 충족</a:t>
            </a:r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9913f317efaa4b54"/>
          <a:stretch/>
        </p:blipFill>
        <p:spPr>
          <a:xfrm>
            <a:off x="6812032" y="1571625"/>
            <a:ext cx="4187687" cy="4572000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2:creationId id="{35EB5740-9566-4C69-B1D2-8F968E9B5072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Windows Docker Desktop · Minikube에서 실제 실행한 화면</a:t>
            </a:r>
          </a:p>
        </p:txBody>
      </p:sp>
    </p:spTree>
    <p:extLst>
      <p:ext uri="{BB962C8B-B14F-4D97-AF65-F5344CB8AC3E}">
        <ns4:creationId val="1374071447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E9E2E6B9-05CA-4701-9C13-A50546543AB2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17DE412E-6543-45A6-A8D3-2D5231F8C8DF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API 복제본 확대</a:t>
            </a:r>
          </a:p>
        </p:txBody>
      </p:sp>
      <p:sp>
        <p:nvSpPr>
          <p:cNvPr id="3" name="">
            <a:extLst>
              <a:ext uri="{FF2B5EF4-FFF2-40B4-BE49-F238E27FC236}">
                <ns2:creationId id="{7043C308-6AB5-4967-8BE0-780C396C6B7E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명령으로 원하는 복제 수를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3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으로 변경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api Pod 3개가 준비됨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이 단계는 부하와 관계없는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수동 확장</a:t>
            </a:r>
          </a:p>
        </p:txBody>
      </p:sp>
      <p:sp>
        <p:nvSpPr>
          <p:cNvPr id="4" name="">
            <a:extLst>
              <a:ext uri="{FF2B5EF4-FFF2-40B4-BE49-F238E27FC236}">
                <ns2:creationId id="{45096D37-B662-44DA-9768-95C26DB5C4BE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scale deployment/api --replicas=3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rollout status deployment/api --timeout=120s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get pods -l app=api</a:t>
            </a:r>
          </a:p>
        </p:txBody>
      </p:sp>
      <p:sp>
        <p:nvSpPr>
          <p:cNvPr id="5" name="">
            <a:extLst>
              <a:ext uri="{FF2B5EF4-FFF2-40B4-BE49-F238E27FC236}">
                <ns2:creationId id="{1400138A-2361-444A-8FDE-9E659771DA45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replicas: 1인 YAML을 다시 apply하면 1개로 되돌아갑니다.</a:t>
            </a:r>
          </a:p>
        </p:txBody>
      </p:sp>
    </p:spTree>
    <p:extLst>
      <p:ext uri="{BB962C8B-B14F-4D97-AF65-F5344CB8AC3E}">
        <ns3:creationId val="1319529942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121EC578-D007-4A16-AB85-D42FE6BDD5DD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98827127-CF46-4E71-8EAD-234C4386403B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Pod 삭제와 자동 복구</a:t>
            </a:r>
          </a:p>
        </p:txBody>
      </p:sp>
      <p:sp>
        <p:nvSpPr>
          <p:cNvPr id="3" name="">
            <a:extLst>
              <a:ext uri="{FF2B5EF4-FFF2-40B4-BE49-F238E27FC236}">
                <ns2:creationId id="{99919F97-DB1E-4791-989B-EE3CA853807E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get pods에서 api Pod 이름 하나를 복사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아래 POD이름을 실제 이름으로 바꿔 실행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새 이름의 Pod가 생겨 최종 3개인지 확인</a:t>
            </a:r>
          </a:p>
        </p:txBody>
      </p:sp>
      <p:sp>
        <p:nvSpPr>
          <p:cNvPr id="4" name="">
            <a:extLst>
              <a:ext uri="{FF2B5EF4-FFF2-40B4-BE49-F238E27FC236}">
                <ns2:creationId id="{3AC30D65-76F7-40C6-B202-A549E623052F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0858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delete pod POD이름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get pods -l app=api -w</a:t>
            </a:r>
          </a:p>
        </p:txBody>
      </p:sp>
      <p:sp>
        <p:nvSpPr>
          <p:cNvPr id="5" name="">
            <a:extLst>
              <a:ext uri="{FF2B5EF4-FFF2-40B4-BE49-F238E27FC236}">
                <ns2:creationId id="{592A447A-7B3C-43C3-9781-58D659476464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관찰 종료는 Ctrl+C. Pod 재생성과 컨테이너 재시작은 구분합니다.</a:t>
            </a:r>
          </a:p>
        </p:txBody>
      </p:sp>
    </p:spTree>
    <p:extLst>
      <p:ext uri="{BB962C8B-B14F-4D97-AF65-F5344CB8AC3E}">
        <ns3:creationId val="2066944711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41B64DB8-8CAA-44BC-A040-A3DC5001E50D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7BB3FE41-C15D-4BF9-8B7F-A60427EDF0F3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새 버전 이미지 생성</a:t>
            </a:r>
          </a:p>
        </p:txBody>
      </p:sp>
      <p:sp>
        <p:nvSpPr>
          <p:cNvPr id="3" name="">
            <a:extLst>
              <a:ext uri="{FF2B5EF4-FFF2-40B4-BE49-F238E27FC236}">
                <ns2:creationId id="{6D15B2A0-64C7-40CD-9D9C-8A11AB2176B5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같은 태그를 덮어쓰지 않고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v2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 생성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APP_VERSION 값으로 health 응답 변화 확인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빌드한 v2도 노드에 전달</a:t>
            </a:r>
          </a:p>
        </p:txBody>
      </p:sp>
      <p:sp>
        <p:nvSpPr>
          <p:cNvPr id="4" name="">
            <a:extLst>
              <a:ext uri="{FF2B5EF4-FFF2-40B4-BE49-F238E27FC236}">
                <ns2:creationId id="{524BBC59-3DED-4EC7-8C77-53B3FDF6E6E5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08585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build --build-arg APP_VERSION=v2 -t week6-api:v2 ./api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image load week6-api:v2 -p week6</a:t>
            </a:r>
          </a:p>
        </p:txBody>
      </p:sp>
      <p:sp>
        <p:nvSpPr>
          <p:cNvPr id="5" name="">
            <a:extLst>
              <a:ext uri="{FF2B5EF4-FFF2-40B4-BE49-F238E27FC236}">
                <ns2:creationId id="{6BAA6210-2D6D-4D6F-B182-B70F25051F7E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학교용 빌드를 사용했다면 -f ./api/Dockerfile.school을 추가합니다.</a:t>
            </a:r>
          </a:p>
        </p:txBody>
      </p:sp>
    </p:spTree>
    <p:extLst>
      <p:ext uri="{BB962C8B-B14F-4D97-AF65-F5344CB8AC3E}">
        <ns3:creationId val="1622631849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BA4ED267-3854-4C98-A8D3-9FA01CD0E65B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C8F5E94E-F330-45AC-9D89-BAEAB6209CA9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이미지 업데이트</a:t>
            </a:r>
          </a:p>
        </p:txBody>
      </p:sp>
      <p:sp>
        <p:nvSpPr>
          <p:cNvPr id="3" name="">
            <a:extLst>
              <a:ext uri="{FF2B5EF4-FFF2-40B4-BE49-F238E27FC236}">
                <ns2:creationId id="{C7916130-43EE-4B58-956B-3E0A7773E57B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Deployment의 api 컨테이너를 v2로 변경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롤아웃 완료 후 health 확인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version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v2</a:t>
            </a: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, 새로운 Pod 이름</a:t>
            </a:r>
          </a:p>
        </p:txBody>
      </p:sp>
      <p:sp>
        <p:nvSpPr>
          <p:cNvPr id="4" name="">
            <a:extLst>
              <a:ext uri="{FF2B5EF4-FFF2-40B4-BE49-F238E27FC236}">
                <ns2:creationId id="{A6894DBE-DBDA-4A39-8E22-98FC24D0A67E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set image deployment/api api=week6-api:v2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rollout status deployment/api --timeout=120s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curl.exe -s http://localhost:8080/api/health</a:t>
            </a:r>
          </a:p>
        </p:txBody>
      </p:sp>
      <p:sp>
        <p:nvSpPr>
          <p:cNvPr id="5" name="">
            <a:extLst>
              <a:ext uri="{FF2B5EF4-FFF2-40B4-BE49-F238E27FC236}">
                <ns2:creationId id="{BAC22A6F-609E-4097-9E10-76DDB512F34C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set image는 로컬 YAML 파일을 바꾸지 않습니다.</a:t>
            </a:r>
          </a:p>
        </p:txBody>
      </p:sp>
    </p:spTree>
    <p:extLst>
      <p:ext uri="{BB962C8B-B14F-4D97-AF65-F5344CB8AC3E}">
        <ns3:creationId val="638395002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DAA2B451-0CFF-4CF5-8A54-BA11D6139FCB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211FE037-BCD2-44FB-8BA1-F8C7C9447E33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이전 버전으로 롤백</a:t>
            </a:r>
          </a:p>
        </p:txBody>
      </p:sp>
      <p:sp>
        <p:nvSpPr>
          <p:cNvPr id="3" name="">
            <a:extLst>
              <a:ext uri="{FF2B5EF4-FFF2-40B4-BE49-F238E27FC236}">
                <ns2:creationId id="{C2402656-6A8E-43DD-AC8E-5FA6C6DCB322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직전 Pod 템플릿 revision으로 되돌림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health version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v1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Git 파일과 저장 데이터까지 되돌리는 명령은 아님</a:t>
            </a:r>
          </a:p>
        </p:txBody>
      </p:sp>
      <p:sp>
        <p:nvSpPr>
          <p:cNvPr id="4" name="">
            <a:extLst>
              <a:ext uri="{FF2B5EF4-FFF2-40B4-BE49-F238E27FC236}">
                <ns2:creationId id="{14F40F83-B7E0-47D9-9C36-658E27BA3BDE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rollout undo deployment/api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--context=week6 -n week6 rollout status deployment/api --timeout=120s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curl.exe -s http://localhost:8080/api/health</a:t>
            </a:r>
          </a:p>
        </p:txBody>
      </p:sp>
    </p:spTree>
    <p:extLst>
      <p:ext uri="{BB962C8B-B14F-4D97-AF65-F5344CB8AC3E}">
        <ns3:creationId val="1309260048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59894272-8CE9-4B99-BE1B-CDF6F4820820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C15DA3D2-6BB8-4638-B670-3E9FD25A9EEA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실행 오류 확인</a:t>
            </a:r>
          </a:p>
        </p:txBody>
      </p:sp>
      <p:sp>
        <p:nvSpPr>
          <p:cNvPr id="3" name="">
            <a:extLst>
              <a:ext uri="{FF2B5EF4-FFF2-40B4-BE49-F238E27FC236}">
                <ns2:creationId id="{0B34AF95-F65C-4EA0-BBD5-858F50FA0354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ErrImageNeverPull: 태그와 image load 확인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Pending: describe 이벤트에서 자원 부족 확인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CrashLoopBackOff: logs --previous로 이전 로그 확인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nginx 502: API 상태·Service selector·EndpointSlice 확인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접속 끊김: 터미널 A의 port-forward 상태 확인</a:t>
            </a:r>
          </a:p>
        </p:txBody>
      </p:sp>
      <p:sp>
        <p:nvSpPr>
          <p:cNvPr id="4" name="">
            <a:extLst>
              <a:ext uri="{FF2B5EF4-FFF2-40B4-BE49-F238E27FC236}">
                <ns2:creationId id="{4976E0AC-1C20-41A9-B59A-904570DC78B4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오류가 발생한 단계와 명령·메시지를 함께 기록합니다.</a:t>
            </a:r>
          </a:p>
        </p:txBody>
      </p:sp>
    </p:spTree>
    <p:extLst>
      <p:ext uri="{BB962C8B-B14F-4D97-AF65-F5344CB8AC3E}">
        <ns3:creationId val="457786342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EAB7993D-91F5-4971-A35A-12713B67CAAC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734745A5-6BB0-4E66-8FD7-6C7706092793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실습 자원 정리</a:t>
            </a:r>
          </a:p>
        </p:txBody>
      </p:sp>
      <p:sp>
        <p:nvSpPr>
          <p:cNvPr id="3" name="">
            <a:extLst>
              <a:ext uri="{FF2B5EF4-FFF2-40B4-BE49-F238E27FC236}">
                <ns2:creationId id="{45DF8E4F-EAAA-4035-B7BF-5C75C4DD38A0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터미널 A: Ctrl+C로 port-forward 종료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터미널 B: 이번 주 namespace 삭제와 프로필 중지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예상 결과: namespace 조회 시 </a:t>
            </a:r>
            <a:r>
              <a:rPr sz="2000" b="1" i="0">
                <a:solidFill>
                  <a:srgbClr val="FF0000"/>
                </a:solidFill>
                <a:latin typeface="나눔스퀘어"/>
                <a:ea typeface="나눔스퀘어"/>
                <a:cs typeface="나눔스퀘어"/>
              </a:rPr>
              <a:t>NotFound</a:t>
            </a:r>
          </a:p>
        </p:txBody>
      </p:sp>
      <p:sp>
        <p:nvSpPr>
          <p:cNvPr id="4" name="">
            <a:extLst>
              <a:ext uri="{FF2B5EF4-FFF2-40B4-BE49-F238E27FC236}">
                <ns2:creationId id="{DBC3D7F8-AD64-4D9B-8C0E-B6F0B9A16FF8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905000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delete namespace week6 --wait=true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kubectl --context=week6 get namespace week6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stop -p week6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docker compose down</a:t>
            </a:r>
          </a:p>
        </p:txBody>
      </p:sp>
      <p:sp>
        <p:nvSpPr>
          <p:cNvPr id="5" name="">
            <a:extLst>
              <a:ext uri="{FF2B5EF4-FFF2-40B4-BE49-F238E27FC236}">
                <ns2:creationId id="{BBD69FDD-7210-421B-97AC-8480C09B3C85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Docker 전체 초기화와 system prune을 실행하지 않습니다.</a:t>
            </a:r>
          </a:p>
        </p:txBody>
      </p:sp>
    </p:spTree>
    <p:extLst>
      <p:ext uri="{BB962C8B-B14F-4D97-AF65-F5344CB8AC3E}">
        <ns3:creationId val="1872018804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9776DFC2-B4B2-4BB7-A1A1-A9EE5CA34A9C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0CDD2158-A235-426D-9798-F5C69C6575F9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다음 실습과 완전 삭제</a:t>
            </a:r>
          </a:p>
        </p:txBody>
      </p:sp>
      <p:sp>
        <p:nvSpPr>
          <p:cNvPr id="3" name="">
            <a:extLst>
              <a:ext uri="{FF2B5EF4-FFF2-40B4-BE49-F238E27FC236}">
                <ns2:creationId id="{9ADC30DB-317E-4F78-8704-A3A4DE531B90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15049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재개: week6 프로필 시작 후 이미지·YAML 단계 진행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더 필요 없는 경우에만 week6 프로필 삭제</a:t>
            </a:r>
          </a:p>
          <a:p>
            <a:pPr>
              <a:lnSpc>
                <a:spcPct val="120000"/>
              </a:lnSpc>
              <a:def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0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프로필 삭제는 그 안의 모든 데이터를 삭제</a:t>
            </a:r>
          </a:p>
        </p:txBody>
      </p:sp>
      <p:sp>
        <p:nvSpPr>
          <p:cNvPr id="4" name="">
            <a:extLst>
              <a:ext uri="{FF2B5EF4-FFF2-40B4-BE49-F238E27FC236}">
                <ns2:creationId id="{02299E16-0689-41AB-ABAE-DB44EA059683}"/>
              </a:ext>
            </a:extLst>
          </p:cNvPr>
          <p:cNvSpPr>
            <a:spLocks noGrp="1"/>
          </p:cNvSpPr>
          <p:nvPr/>
        </p:nvSpPr>
        <p:spPr>
          <a:xfrm>
            <a:off x="685800" y="3248025"/>
            <a:ext cx="10858500" cy="1495425"/>
          </a:xfrm>
          <a:prstGeom prst="rect">
            <a:avLst/>
          </a:prstGeom>
          <a:solidFill>
            <a:srgbClr val="171717"/>
          </a:solidFill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start -p week6 --driver=docker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# 실습 종료 후 완전 삭제가 필요한 경우만 실행</a:t>
            </a:r>
          </a:p>
          <a:p>
            <a:pPr>
              <a:lnSpc>
                <a:spcPct val="120000"/>
              </a:lnSpc>
              <a:def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700" b="0" i="0">
                <a:solidFill>
                  <a:srgbClr val="FFFFFF"/>
                </a:solidFill>
                <a:latin typeface="나눔스퀘어"/>
                <a:ea typeface="나눔스퀘어"/>
                <a:cs typeface="나눔스퀘어"/>
              </a:rPr>
              <a:t>minikube delete -p week6</a:t>
            </a:r>
          </a:p>
        </p:txBody>
      </p:sp>
      <p:sp>
        <p:nvSpPr>
          <p:cNvPr id="5" name="">
            <a:extLst>
              <a:ext uri="{FF2B5EF4-FFF2-40B4-BE49-F238E27FC236}">
                <ns2:creationId id="{6524E5C1-B1C8-450F-B828-03ED172CB683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본인 실습 자원인지 확인하고, 다른 프로필은 건드리지 않습니다.</a:t>
            </a:r>
          </a:p>
        </p:txBody>
      </p:sp>
    </p:spTree>
    <p:extLst>
      <p:ext uri="{BB962C8B-B14F-4D97-AF65-F5344CB8AC3E}">
        <ns3:creationId val="1258056571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DA5CF7AD-29E8-46FE-B68E-5AEB0DA71466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5BCA25C0-2AA9-47FA-A649-1F9125BE980E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6주차 과제</a:t>
            </a:r>
          </a:p>
        </p:txBody>
      </p:sp>
      <p:sp>
        <p:nvSpPr>
          <p:cNvPr id="3" name="">
            <a:extLst>
              <a:ext uri="{FF2B5EF4-FFF2-40B4-BE49-F238E27FC236}">
                <ns2:creationId id="{2982465F-6D33-42CE-9788-5D03FE623FF1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가상의 프로젝트 1개를 추가한 v2 이미지 배포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검색 결과와 version 변화 기록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API Pod 3개 중 하나를 삭제하고 복구 관찰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v1 롤백 후 검색 결과와 version 비교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명령·결과 스크린샷과 저장소 링크·커밋 제출</a:t>
            </a:r>
          </a:p>
        </p:txBody>
      </p:sp>
      <p:sp>
        <p:nvSpPr>
          <p:cNvPr id="4" name="">
            <a:extLst>
              <a:ext uri="{FF2B5EF4-FFF2-40B4-BE49-F238E27FC236}">
                <ns2:creationId id="{683C3068-031B-4239-AC67-5287272AC4B2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1500" b="0" i="1">
                <a:solidFill>
                  <a:srgbClr val="3284AD"/>
                </a:solidFill>
                <a:latin typeface="나눔스퀘어"/>
                <a:ea typeface="나눔스퀘어"/>
                <a:cs typeface="나눔스퀘어"/>
              </a:rPr>
              <a:t>제출기한·양식은 LMS 우선. 학번·이름은 비공개 제출 문서에만 기재합니다.</a:t>
            </a:r>
          </a:p>
        </p:txBody>
      </p:sp>
    </p:spTree>
    <p:extLst>
      <p:ext uri="{BB962C8B-B14F-4D97-AF65-F5344CB8AC3E}">
        <ns3:creationId val="2091016370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3C70C5AD-8827-4FBD-89E8-E5AD16AFDF34}"/>
              </a:ext>
            </a:extLst>
          </p:cNvPr>
          <p:cNvSpPr>
            <a:spLocks noGrp="1"/>
          </p:cNvSpPr>
          <p:nvPr/>
        </p:nvSpPr>
        <p:spPr>
          <a:xfrm>
            <a:off x="2209800" y="276225"/>
            <a:ext cx="9239250" cy="476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  <a:def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Kubernetes 실습</a:t>
            </a:r>
          </a:p>
        </p:txBody>
      </p:sp>
      <p:sp>
        <p:nvSpPr>
          <p:cNvPr id="2" name="">
            <a:extLst>
              <a:ext uri="{FF2B5EF4-FFF2-40B4-BE49-F238E27FC236}">
                <ns2:creationId id="{332911D1-02EC-4FF0-A1CE-2B81BE88475C}"/>
              </a:ext>
            </a:extLst>
          </p:cNvPr>
          <p:cNvSpPr>
            <a:spLocks noGrp="1"/>
          </p:cNvSpPr>
          <p:nvPr/>
        </p:nvSpPr>
        <p:spPr>
          <a:xfrm>
            <a:off x="438150" y="923925"/>
            <a:ext cx="11239500" cy="571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800" b="1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▪ 학습 확인</a:t>
            </a:r>
          </a:p>
        </p:txBody>
      </p:sp>
      <p:sp>
        <p:nvSpPr>
          <p:cNvPr id="3" name="">
            <a:extLst>
              <a:ext uri="{FF2B5EF4-FFF2-40B4-BE49-F238E27FC236}">
                <ns2:creationId id="{AE14C4B6-4FBA-4C9F-BC33-E1DB3699EB15}"/>
              </a:ext>
            </a:extLst>
          </p:cNvPr>
          <p:cNvSpPr>
            <a:spLocks noGrp="1"/>
          </p:cNvSpPr>
          <p:nvPr/>
        </p:nvSpPr>
        <p:spPr>
          <a:xfrm>
            <a:off x="876300" y="166687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이미지 생성과 Pod 생성의 차이는 무엇인가요?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Service selector와 Pod label은 왜 같아야 하나요?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Pod를 삭제했는데 다시 생기는 이유는 무엇인가요?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수동 확장과 HPA의 차이는 무엇인가요?</a:t>
            </a:r>
          </a:p>
          <a:p>
            <a:pPr>
              <a:lnSpc>
                <a:spcPct val="120000"/>
              </a:lnSpc>
              <a:def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defRPr>
            </a:pPr>
            <a:r>
              <a:rPr sz="2400" b="0" i="0">
                <a:solidFill>
                  <a:srgbClr val="000000"/>
                </a:solidFill>
                <a:latin typeface="나눔스퀘어"/>
                <a:ea typeface="나눔스퀘어"/>
                <a:cs typeface="나눔스퀘어"/>
              </a:rPr>
              <a:t>롤백 후 코드 파일도 이전 상태로 바뀌나요?</a:t>
            </a:r>
          </a:p>
        </p:txBody>
      </p:sp>
    </p:spTree>
    <p:extLst>
      <p:ext uri="{BB962C8B-B14F-4D97-AF65-F5344CB8AC3E}">
        <ns3:creationId val="2133354641"/>
      </p:ext>
    </p:extLst>
  </p:cSld>
</p:sld>
</file>

<file path=ppt/slides/slide40.xml><?xml version="1.0" encoding="utf-8"?>
<p:sld xmlns:a="http://schemas.openxmlformats.org/drawingml/2006/main" xmlns:ns2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4241865" y="2891575"/>
            <a:ext cx="3525625" cy="133084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sz="9600"/>
              <a:t>END</a:t>
            </a:r>
            <a:endParaRPr lang="ko-KR" altLang="en-US" sz="9600"/>
          </a:p>
        </p:txBody>
      </p:sp>
    </p:spTree>
    <p:extLst>
      <p:ext uri="{BB962C8B-B14F-4D97-AF65-F5344CB8AC3E}">
        <ns2:creationId val="469834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2026-10-05T03:49:22.5360000Z</dcterms:created>
  <dcterms:modified xsi:type="dcterms:W3CDTF">2026-10-05T03:49:22.5360000Z</dcterms:modified>
</coreProperties>
</file>